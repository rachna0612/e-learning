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5" r:id="rId5"/>
    <p:sldId id="259" r:id="rId6"/>
    <p:sldId id="272" r:id="rId7"/>
    <p:sldId id="271" r:id="rId8"/>
    <p:sldId id="273" r:id="rId9"/>
    <p:sldId id="266" r:id="rId10"/>
    <p:sldId id="267" r:id="rId11"/>
    <p:sldId id="268" r:id="rId12"/>
    <p:sldId id="269" r:id="rId13"/>
    <p:sldId id="270" r:id="rId14"/>
    <p:sldId id="260" r:id="rId15"/>
    <p:sldId id="261" r:id="rId16"/>
    <p:sldId id="263" r:id="rId17"/>
    <p:sldId id="264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10515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Cloud-Native Learning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Kubernetes and Prometheus Monitoring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By:  </a:t>
            </a: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Rachna Devi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No.:  </a:t>
            </a: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   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Section:  </a:t>
            </a: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4OM05   </a:t>
            </a: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Reg. No.:  </a:t>
            </a: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12215283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To:  </a:t>
            </a: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Ms. Arshiya  |  Assistant Professor  |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Course:  </a:t>
            </a: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INT-334 – Enterprise Application Automation  |  LPU, Session 2025-26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77724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0" y="4956048"/>
            <a:ext cx="320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25296"/>
            <a:ext cx="402336" cy="40233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2529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11704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144475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Background, motivation and project overview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746504"/>
            <a:ext cx="4114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56232"/>
            <a:ext cx="402336" cy="40233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562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18013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207568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with traditional deployment approaches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4114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87168"/>
            <a:ext cx="402336" cy="40233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871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243230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27066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Kubernetes cluster design and component layout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008376"/>
            <a:ext cx="4114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118104"/>
            <a:ext cx="402336" cy="40233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" y="30632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33375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and technologies used in the project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639312"/>
            <a:ext cx="4114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749040"/>
            <a:ext cx="402336" cy="40233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7490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6112" y="369417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Results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96112" y="396849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Outcomes, metrics and observations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270248"/>
            <a:ext cx="4114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79976"/>
            <a:ext cx="402336" cy="40233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37997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6112" y="432511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96112" y="45994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and future scope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1170432"/>
            <a:ext cx="4114800" cy="3657600"/>
          </a:xfrm>
          <a:prstGeom prst="rect">
            <a:avLst/>
          </a:prstGeom>
          <a:solidFill>
            <a:srgbClr val="F2F7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1170432"/>
            <a:ext cx="411480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170432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Snapshot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92040" y="16916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09360" y="169164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LearnEd – E-Learning Website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92040" y="2084832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09360" y="2084832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Rachna0612/E-LEARNING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92040" y="2478024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Containerization: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09360" y="2478024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(nginx:alpine)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92040" y="287121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Orchestration: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09360" y="2871216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Kubernetes v1.29 (kubeadm)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92040" y="326440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Infrastructure: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309360" y="326440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EC2 (Ubuntu 22.04)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92040" y="365760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Monitoring: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309360" y="365760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 + Grafana (Helm)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92040" y="4050792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Auto-Scaling: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309360" y="4050792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Horizontal Pod Autoscaler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892040" y="4443984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Course: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09360" y="4443984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INT-334, LPU, 2025-26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77724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0" y="4956048"/>
            <a:ext cx="320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LearnEd?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490472"/>
            <a:ext cx="402336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54480"/>
            <a:ext cx="402336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LearnEd is a cloud-native educational platform designed to deliver structured course content and learning resources to students through a responsive web interface.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 was developed to demonstrate real-world Kubernetes orchestration and Prometheus-based monitoring on a practical application — an online learning system — rather than a synthetic demo.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54787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&amp; Motivation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886200"/>
            <a:ext cx="402336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Educational platforms face unpredictable traffic — especially during examinations. Traditional server-based deployments fail under these spikes. This project applies cloud-native principles to solve that.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4206240" cy="3611880"/>
          </a:xfrm>
          <a:prstGeom prst="rect">
            <a:avLst/>
          </a:prstGeom>
          <a:solidFill>
            <a:srgbClr val="F2F7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143000"/>
            <a:ext cx="420624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14300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Objectives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691640"/>
            <a:ext cx="256032" cy="25603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69164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38928" y="1645920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Containerize the frontend using Docker for portability and consistency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221992"/>
            <a:ext cx="256032" cy="25603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22199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38928" y="2176272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on a multi-node Kubernetes cluster via kubeadm on AWS EC2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752344"/>
            <a:ext cx="256032" cy="25603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75234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38928" y="2706624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 Horizontal Pod Autoscaling (HPA) for dynamic scaling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282696"/>
            <a:ext cx="256032" cy="25603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2826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38928" y="3236976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 zero-downtime deployments using RollingUpdate strategy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3813048"/>
            <a:ext cx="256032" cy="25603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81304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38928" y="3767328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up Prometheus + Grafana monitoring with real-time dashboards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4343400"/>
            <a:ext cx="256032" cy="25603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3434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38928" y="4297680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 the full implementation for reproducibility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111838-3EA0-6CAA-5D72-E26345F3E5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725"/>
          <a:stretch>
            <a:fillRect/>
          </a:stretch>
        </p:blipFill>
        <p:spPr>
          <a:xfrm>
            <a:off x="3931921" y="788671"/>
            <a:ext cx="4902590" cy="28900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CED5BC-AB23-EE6A-7D72-7BEC3514A33B}"/>
              </a:ext>
            </a:extLst>
          </p:cNvPr>
          <p:cNvSpPr txBox="1"/>
          <p:nvPr/>
        </p:nvSpPr>
        <p:spPr>
          <a:xfrm>
            <a:off x="232117" y="788672"/>
            <a:ext cx="341844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Learn-Ed Website Port (30007)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Learn-Ed application is deployed in Kubernetes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Runs inside container on: 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Container Port: 80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Exposed externally using </a:t>
            </a:r>
            <a:r>
              <a:rPr lang="en-IN" b="1" dirty="0" err="1"/>
              <a:t>NodePort</a:t>
            </a:r>
            <a:r>
              <a:rPr lang="en-IN" dirty="0"/>
              <a:t>: 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NodePort</a:t>
            </a:r>
            <a:r>
              <a:rPr lang="en-IN" dirty="0">
                <a:latin typeface="Courier New" panose="02070309020205020404" pitchFamily="49" charset="0"/>
              </a:rPr>
              <a:t>: 30007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Access via: 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http://&lt;Public-IP&gt;:30007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77724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0" y="4956048"/>
            <a:ext cx="320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web application deployments suffer from critical operational limitations when handling dynamic workloads such as those experienced by educational platforms during examination seasons.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4160520" cy="1371600"/>
          </a:xfrm>
          <a:prstGeom prst="rect">
            <a:avLst/>
          </a:prstGeom>
          <a:solidFill>
            <a:srgbClr val="F2F7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4160520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1907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Infrastructure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112264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resource allocation cannot dynamically scale up during examination peaks or scale down during off-peak hours, leading to resource waste or system overload.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719072"/>
            <a:ext cx="4160520" cy="1371600"/>
          </a:xfrm>
          <a:prstGeom prst="rect">
            <a:avLst/>
          </a:prstGeom>
          <a:solidFill>
            <a:srgbClr val="F2F7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719072"/>
            <a:ext cx="4160520" cy="347472"/>
          </a:xfrm>
          <a:prstGeom prst="rect">
            <a:avLst/>
          </a:prstGeom>
          <a:solidFill>
            <a:srgbClr val="843C0C"/>
          </a:solidFill>
          <a:ln w="12700">
            <a:solidFill>
              <a:srgbClr val="843C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71907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Point of Failure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112264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Monolithic server deployments mean any instance crash brings the entire platform offline. There is no redundancy or automatic recovery mechanism.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255264"/>
            <a:ext cx="4160520" cy="1371600"/>
          </a:xfrm>
          <a:prstGeom prst="rect">
            <a:avLst/>
          </a:prstGeom>
          <a:solidFill>
            <a:srgbClr val="F2F7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55264"/>
            <a:ext cx="4160520" cy="34747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5526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Real-Time Monitoring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648456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centralised metrics collection and alerting, administrators discover failures only after students report them — by which time, reputational damage is already done.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255264"/>
            <a:ext cx="4160520" cy="1371600"/>
          </a:xfrm>
          <a:prstGeom prst="rect">
            <a:avLst/>
          </a:prstGeom>
          <a:solidFill>
            <a:srgbClr val="F2F7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255264"/>
            <a:ext cx="416052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25526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Operations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648456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Scaling, updates, and failover all require manual SSH access, increasing human error and making it impossible to respond fast enough during sudden traffic spikes.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736592"/>
            <a:ext cx="8412480" cy="1645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36592"/>
            <a:ext cx="8412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Solution: LearnEd uses Kubernetes for automated scaling and self-healing, Prometheus for real-time monitoring, and Docker for portable, reproducible deployments.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AB89E5-0FB5-0888-16C2-A337C2D7314F}"/>
              </a:ext>
            </a:extLst>
          </p:cNvPr>
          <p:cNvSpPr/>
          <p:nvPr/>
        </p:nvSpPr>
        <p:spPr>
          <a:xfrm>
            <a:off x="0" y="57150"/>
            <a:ext cx="914400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E659EA-536D-4F98-E279-C96115957FD9}"/>
              </a:ext>
            </a:extLst>
          </p:cNvPr>
          <p:cNvSpPr/>
          <p:nvPr/>
        </p:nvSpPr>
        <p:spPr>
          <a:xfrm>
            <a:off x="365760" y="14859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Tools &amp; Technologies Used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587A32-B14A-3F7E-50CE-440F09C8C2FF}"/>
              </a:ext>
            </a:extLst>
          </p:cNvPr>
          <p:cNvSpPr/>
          <p:nvPr/>
        </p:nvSpPr>
        <p:spPr>
          <a:xfrm>
            <a:off x="457200" y="880110"/>
            <a:ext cx="2560320" cy="1691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0ACC1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58A14582-6B14-7576-356C-9CB68A65B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62990"/>
            <a:ext cx="640080" cy="64008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1842501F-AD1B-BD73-585A-BFF83A0FE2A7}"/>
              </a:ext>
            </a:extLst>
          </p:cNvPr>
          <p:cNvSpPr/>
          <p:nvPr/>
        </p:nvSpPr>
        <p:spPr>
          <a:xfrm>
            <a:off x="1280160" y="106299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AWS EC2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ADC85A0-D912-41F6-BF7C-6F30A0CE9B73}"/>
              </a:ext>
            </a:extLst>
          </p:cNvPr>
          <p:cNvSpPr/>
          <p:nvPr/>
        </p:nvSpPr>
        <p:spPr>
          <a:xfrm>
            <a:off x="1280160" y="1428750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Cloud infrastructure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Ubuntu 22.04 LTS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4A31869-D64B-7DEC-E87B-D5F16DB84E55}"/>
              </a:ext>
            </a:extLst>
          </p:cNvPr>
          <p:cNvSpPr/>
          <p:nvPr/>
        </p:nvSpPr>
        <p:spPr>
          <a:xfrm>
            <a:off x="457200" y="2388870"/>
            <a:ext cx="256032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A2AA0C9-E6A6-D22E-5DD1-30C63C48289F}"/>
              </a:ext>
            </a:extLst>
          </p:cNvPr>
          <p:cNvSpPr/>
          <p:nvPr/>
        </p:nvSpPr>
        <p:spPr>
          <a:xfrm>
            <a:off x="3337560" y="880110"/>
            <a:ext cx="2560320" cy="1691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0ACC1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A82D5D6F-68DE-1525-7A9C-A21AB42B9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062990"/>
            <a:ext cx="640080" cy="64008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380FCAB8-4BB1-2FBB-C72B-1C3A37CA2EE9}"/>
              </a:ext>
            </a:extLst>
          </p:cNvPr>
          <p:cNvSpPr/>
          <p:nvPr/>
        </p:nvSpPr>
        <p:spPr>
          <a:xfrm>
            <a:off x="4160520" y="106299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Docker</a:t>
            </a:r>
            <a:endParaRPr lang="en-US" sz="13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C5995FE-96E7-0D39-98DF-6C01C9E10146}"/>
              </a:ext>
            </a:extLst>
          </p:cNvPr>
          <p:cNvSpPr/>
          <p:nvPr/>
        </p:nvSpPr>
        <p:spPr>
          <a:xfrm>
            <a:off x="4160520" y="1428750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Container image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Nginx Alpine base</a:t>
            </a:r>
            <a:endParaRPr lang="en-US" sz="10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96DF195-7BF3-C282-EE2F-72B07218AFDC}"/>
              </a:ext>
            </a:extLst>
          </p:cNvPr>
          <p:cNvSpPr/>
          <p:nvPr/>
        </p:nvSpPr>
        <p:spPr>
          <a:xfrm>
            <a:off x="3337560" y="2388870"/>
            <a:ext cx="256032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D853350E-DDFB-96C4-73B4-907B6F1C6964}"/>
              </a:ext>
            </a:extLst>
          </p:cNvPr>
          <p:cNvSpPr/>
          <p:nvPr/>
        </p:nvSpPr>
        <p:spPr>
          <a:xfrm>
            <a:off x="6217920" y="880110"/>
            <a:ext cx="2560320" cy="1691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0ACC1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>
            <a:extLst>
              <a:ext uri="{FF2B5EF4-FFF2-40B4-BE49-F238E27FC236}">
                <a16:creationId xmlns:a16="http://schemas.microsoft.com/office/drawing/2014/main" id="{6E15FEBB-D66E-F1C4-1179-382355B1D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062990"/>
            <a:ext cx="640080" cy="64008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B7AF3425-8F26-856F-83EA-392805344E69}"/>
              </a:ext>
            </a:extLst>
          </p:cNvPr>
          <p:cNvSpPr/>
          <p:nvPr/>
        </p:nvSpPr>
        <p:spPr>
          <a:xfrm>
            <a:off x="7040880" y="106299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Kubernetes</a:t>
            </a:r>
            <a:endParaRPr lang="en-US" sz="13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B7BDFC4F-6035-47D7-A542-54FE3B5E4EFF}"/>
              </a:ext>
            </a:extLst>
          </p:cNvPr>
          <p:cNvSpPr/>
          <p:nvPr/>
        </p:nvSpPr>
        <p:spPr>
          <a:xfrm>
            <a:off x="7040880" y="1428750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Orchestration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kubeadm v1.29</a:t>
            </a:r>
            <a:endParaRPr lang="en-US" sz="10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F4594E2A-47C4-74BA-DBBD-830A703E1106}"/>
              </a:ext>
            </a:extLst>
          </p:cNvPr>
          <p:cNvSpPr/>
          <p:nvPr/>
        </p:nvSpPr>
        <p:spPr>
          <a:xfrm>
            <a:off x="6217920" y="2388870"/>
            <a:ext cx="256032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24555F7F-6E77-C8FF-C388-AC106FA13075}"/>
              </a:ext>
            </a:extLst>
          </p:cNvPr>
          <p:cNvSpPr/>
          <p:nvPr/>
        </p:nvSpPr>
        <p:spPr>
          <a:xfrm>
            <a:off x="457200" y="2800350"/>
            <a:ext cx="2560320" cy="1691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0ACC1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0" name="Image 3">
            <a:extLst>
              <a:ext uri="{FF2B5EF4-FFF2-40B4-BE49-F238E27FC236}">
                <a16:creationId xmlns:a16="http://schemas.microsoft.com/office/drawing/2014/main" id="{BC2CD638-EF96-3510-B001-873CF67070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983230"/>
            <a:ext cx="640080" cy="640080"/>
          </a:xfrm>
          <a:prstGeom prst="rect">
            <a:avLst/>
          </a:prstGeom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FC3C3F20-B704-43AD-7E0A-803ED9ABCDC2}"/>
              </a:ext>
            </a:extLst>
          </p:cNvPr>
          <p:cNvSpPr/>
          <p:nvPr/>
        </p:nvSpPr>
        <p:spPr>
          <a:xfrm>
            <a:off x="1280160" y="298323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Prometheus</a:t>
            </a:r>
            <a:endParaRPr lang="en-US" sz="13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91093EA6-FBA9-2832-39AE-C79CF378E2D1}"/>
              </a:ext>
            </a:extLst>
          </p:cNvPr>
          <p:cNvSpPr/>
          <p:nvPr/>
        </p:nvSpPr>
        <p:spPr>
          <a:xfrm>
            <a:off x="1280160" y="3348990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Metrics collection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Time-series DB</a:t>
            </a:r>
            <a:endParaRPr lang="en-US" sz="100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959A4F01-B42F-FC7A-5006-17ED068AA336}"/>
              </a:ext>
            </a:extLst>
          </p:cNvPr>
          <p:cNvSpPr/>
          <p:nvPr/>
        </p:nvSpPr>
        <p:spPr>
          <a:xfrm>
            <a:off x="457200" y="4309110"/>
            <a:ext cx="256032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77A9B369-D2D9-3CD4-C1C0-867689EC3380}"/>
              </a:ext>
            </a:extLst>
          </p:cNvPr>
          <p:cNvSpPr/>
          <p:nvPr/>
        </p:nvSpPr>
        <p:spPr>
          <a:xfrm>
            <a:off x="3337560" y="2800350"/>
            <a:ext cx="2560320" cy="1691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0ACC1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5" name="Image 4">
            <a:extLst>
              <a:ext uri="{FF2B5EF4-FFF2-40B4-BE49-F238E27FC236}">
                <a16:creationId xmlns:a16="http://schemas.microsoft.com/office/drawing/2014/main" id="{8C061F97-5E7E-19B6-9B41-EDD807F74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2983230"/>
            <a:ext cx="640080" cy="640080"/>
          </a:xfrm>
          <a:prstGeom prst="rect">
            <a:avLst/>
          </a:prstGeom>
        </p:spPr>
      </p:pic>
      <p:sp>
        <p:nvSpPr>
          <p:cNvPr id="26" name="Text 19">
            <a:extLst>
              <a:ext uri="{FF2B5EF4-FFF2-40B4-BE49-F238E27FC236}">
                <a16:creationId xmlns:a16="http://schemas.microsoft.com/office/drawing/2014/main" id="{B8954A1F-F7A5-715F-D094-9D3E9969C83C}"/>
              </a:ext>
            </a:extLst>
          </p:cNvPr>
          <p:cNvSpPr/>
          <p:nvPr/>
        </p:nvSpPr>
        <p:spPr>
          <a:xfrm>
            <a:off x="4160520" y="298323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Grafana</a:t>
            </a:r>
            <a:endParaRPr lang="en-US" sz="13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FE6A8AAA-6D2F-57DE-55ED-0B147046411C}"/>
              </a:ext>
            </a:extLst>
          </p:cNvPr>
          <p:cNvSpPr/>
          <p:nvPr/>
        </p:nvSpPr>
        <p:spPr>
          <a:xfrm>
            <a:off x="4160520" y="3348990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Dashboards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Visualization</a:t>
            </a:r>
            <a:endParaRPr lang="en-US" sz="1000" dirty="0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D851090F-2B6A-35B4-08C0-0C239A06DC8A}"/>
              </a:ext>
            </a:extLst>
          </p:cNvPr>
          <p:cNvSpPr/>
          <p:nvPr/>
        </p:nvSpPr>
        <p:spPr>
          <a:xfrm>
            <a:off x="3337560" y="4309110"/>
            <a:ext cx="256032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C5E6CABD-B84B-B130-4863-1E2B8336F23C}"/>
              </a:ext>
            </a:extLst>
          </p:cNvPr>
          <p:cNvSpPr/>
          <p:nvPr/>
        </p:nvSpPr>
        <p:spPr>
          <a:xfrm>
            <a:off x="6217920" y="2800350"/>
            <a:ext cx="2560320" cy="1691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0ACC1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0" name="Image 5">
            <a:extLst>
              <a:ext uri="{FF2B5EF4-FFF2-40B4-BE49-F238E27FC236}">
                <a16:creationId xmlns:a16="http://schemas.microsoft.com/office/drawing/2014/main" id="{3E93CA4C-6AFB-1A5E-4261-C35425AE36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2983230"/>
            <a:ext cx="640080" cy="640080"/>
          </a:xfrm>
          <a:prstGeom prst="rect">
            <a:avLst/>
          </a:prstGeom>
        </p:spPr>
      </p:pic>
      <p:sp>
        <p:nvSpPr>
          <p:cNvPr id="31" name="Text 23">
            <a:extLst>
              <a:ext uri="{FF2B5EF4-FFF2-40B4-BE49-F238E27FC236}">
                <a16:creationId xmlns:a16="http://schemas.microsoft.com/office/drawing/2014/main" id="{71818E54-D9E2-B7AC-2661-1B2B9A8E3824}"/>
              </a:ext>
            </a:extLst>
          </p:cNvPr>
          <p:cNvSpPr/>
          <p:nvPr/>
        </p:nvSpPr>
        <p:spPr>
          <a:xfrm>
            <a:off x="7040880" y="298323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Helm</a:t>
            </a:r>
            <a:endParaRPr lang="en-US" sz="130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A9BDECB4-7CBC-4B73-CC1F-049EC66AB87F}"/>
              </a:ext>
            </a:extLst>
          </p:cNvPr>
          <p:cNvSpPr/>
          <p:nvPr/>
        </p:nvSpPr>
        <p:spPr>
          <a:xfrm>
            <a:off x="7040880" y="3348990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Package manager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Monitoring stack</a:t>
            </a:r>
            <a:endParaRPr lang="en-US" sz="1000" dirty="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EA4341BB-0406-A8F9-988E-517EE23B1F55}"/>
              </a:ext>
            </a:extLst>
          </p:cNvPr>
          <p:cNvSpPr/>
          <p:nvPr/>
        </p:nvSpPr>
        <p:spPr>
          <a:xfrm>
            <a:off x="6217920" y="4309110"/>
            <a:ext cx="256032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81439C27-05F7-7FE2-8F6F-184E396ECA1D}"/>
              </a:ext>
            </a:extLst>
          </p:cNvPr>
          <p:cNvSpPr/>
          <p:nvPr/>
        </p:nvSpPr>
        <p:spPr>
          <a:xfrm>
            <a:off x="457200" y="476631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i="1" dirty="0">
                <a:solidFill>
                  <a:srgbClr val="00ACC1"/>
                </a:solidFill>
              </a:rPr>
              <a:t>All tools are Open Source • Industry Standard • Production Grade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3992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4538B6-EE7B-2C5E-2E49-6794BC9CD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454205"/>
              </p:ext>
            </p:extLst>
          </p:nvPr>
        </p:nvGraphicFramePr>
        <p:xfrm>
          <a:off x="147711" y="1314450"/>
          <a:ext cx="9259179" cy="2926827"/>
        </p:xfrm>
        <a:graphic>
          <a:graphicData uri="http://schemas.openxmlformats.org/drawingml/2006/table">
            <a:tbl>
              <a:tblPr/>
              <a:tblGrid>
                <a:gridCol w="1235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3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3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203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Protocol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Why Needed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203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TCP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SSH Access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Connect to EC2 instance via terminal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203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TCP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HTTP Traffic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Serve web app over standard HTTP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203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30000-32767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TCP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Kubernetes NodePort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Expose K8s services externally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203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6443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TCP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K8s API Server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kubectl commands from local machine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203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9090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TCP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Prometheus Web UI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Access Prometheus metrics interface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203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30310</a:t>
                      </a: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TCP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Prometheus NodePort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External access to Prometheus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203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31949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TCP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Grafana NodePort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Access Grafana dashboard externally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203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3007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TCP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Custom App Port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Additional application endpoint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0">
            <a:extLst>
              <a:ext uri="{FF2B5EF4-FFF2-40B4-BE49-F238E27FC236}">
                <a16:creationId xmlns:a16="http://schemas.microsoft.com/office/drawing/2014/main" id="{D40316E3-86BE-46A0-1973-16B888EB81B0}"/>
              </a:ext>
            </a:extLst>
          </p:cNvPr>
          <p:cNvSpPr/>
          <p:nvPr/>
        </p:nvSpPr>
        <p:spPr>
          <a:xfrm>
            <a:off x="0" y="80010"/>
            <a:ext cx="9144000" cy="640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042E68D-159E-C133-D07F-E9EAACF94E8B}"/>
              </a:ext>
            </a:extLst>
          </p:cNvPr>
          <p:cNvSpPr/>
          <p:nvPr/>
        </p:nvSpPr>
        <p:spPr>
          <a:xfrm>
            <a:off x="365760" y="17145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Security Group Configuration</a:t>
            </a:r>
            <a:endParaRPr lang="en-US" sz="2200" dirty="0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2F086A6F-2786-E8C0-E65E-476C099C0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65810"/>
            <a:ext cx="502920" cy="50292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E64F20FA-C730-5BF8-69A3-9D30003919A3}"/>
              </a:ext>
            </a:extLst>
          </p:cNvPr>
          <p:cNvSpPr/>
          <p:nvPr/>
        </p:nvSpPr>
        <p:spPr>
          <a:xfrm>
            <a:off x="868680" y="811530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</a:rPr>
              <a:t>Inbound Rules — AWS EC2 Security Group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71971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B1B8C0-44D2-8063-5F4C-3831B4667C73}"/>
              </a:ext>
            </a:extLst>
          </p:cNvPr>
          <p:cNvSpPr/>
          <p:nvPr/>
        </p:nvSpPr>
        <p:spPr>
          <a:xfrm>
            <a:off x="0" y="80010"/>
            <a:ext cx="9144000" cy="64008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B3F6F6-08C7-436E-F056-F24D2F0C440D}"/>
              </a:ext>
            </a:extLst>
          </p:cNvPr>
          <p:cNvSpPr/>
          <p:nvPr/>
        </p:nvSpPr>
        <p:spPr>
          <a:xfrm>
            <a:off x="365760" y="17145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Dockerfile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4B83446-6878-443E-BEFE-38E90301F1D5}"/>
              </a:ext>
            </a:extLst>
          </p:cNvPr>
          <p:cNvSpPr/>
          <p:nvPr/>
        </p:nvSpPr>
        <p:spPr>
          <a:xfrm>
            <a:off x="365760" y="811530"/>
            <a:ext cx="5303520" cy="4251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E3E4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222E0B5-987F-185D-877B-44C90F5DF8EA}"/>
              </a:ext>
            </a:extLst>
          </p:cNvPr>
          <p:cNvSpPr/>
          <p:nvPr/>
        </p:nvSpPr>
        <p:spPr>
          <a:xfrm>
            <a:off x="365760" y="811530"/>
            <a:ext cx="5303520" cy="320040"/>
          </a:xfrm>
          <a:prstGeom prst="rect">
            <a:avLst/>
          </a:prstGeom>
          <a:solidFill>
            <a:srgbClr val="323233"/>
          </a:solidFill>
          <a:ln w="12700">
            <a:solidFill>
              <a:srgbClr val="323233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D6488AA-88BA-2113-5324-B97375E42DB1}"/>
              </a:ext>
            </a:extLst>
          </p:cNvPr>
          <p:cNvSpPr/>
          <p:nvPr/>
        </p:nvSpPr>
        <p:spPr>
          <a:xfrm>
            <a:off x="548640" y="902970"/>
            <a:ext cx="137160" cy="137160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26B2279-00FC-564B-4C4B-385477A43C29}"/>
              </a:ext>
            </a:extLst>
          </p:cNvPr>
          <p:cNvSpPr/>
          <p:nvPr/>
        </p:nvSpPr>
        <p:spPr>
          <a:xfrm>
            <a:off x="758952" y="902970"/>
            <a:ext cx="137160" cy="137160"/>
          </a:xfrm>
          <a:prstGeom prst="rect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7F9D250-9F98-862B-F394-646E3658A0C3}"/>
              </a:ext>
            </a:extLst>
          </p:cNvPr>
          <p:cNvSpPr/>
          <p:nvPr/>
        </p:nvSpPr>
        <p:spPr>
          <a:xfrm>
            <a:off x="969264" y="902970"/>
            <a:ext cx="137160" cy="137160"/>
          </a:xfrm>
          <a:prstGeom prst="rect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54C27D2-BB27-21E4-CC2A-8928313A7DDC}"/>
              </a:ext>
            </a:extLst>
          </p:cNvPr>
          <p:cNvSpPr/>
          <p:nvPr/>
        </p:nvSpPr>
        <p:spPr>
          <a:xfrm>
            <a:off x="1280160" y="85725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Dockerfile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48293D4-F65A-AAB0-997E-2C2F43015B6C}"/>
              </a:ext>
            </a:extLst>
          </p:cNvPr>
          <p:cNvSpPr/>
          <p:nvPr/>
        </p:nvSpPr>
        <p:spPr>
          <a:xfrm>
            <a:off x="411480" y="1195578"/>
            <a:ext cx="32004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4E4E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1125D46-FB1A-8DB1-4F35-481AD5FBFDFF}"/>
              </a:ext>
            </a:extLst>
          </p:cNvPr>
          <p:cNvSpPr/>
          <p:nvPr/>
        </p:nvSpPr>
        <p:spPr>
          <a:xfrm>
            <a:off x="777240" y="1195578"/>
            <a:ext cx="475488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-- Base image: Nginx Alpine (~5MB)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9FB07CF-E8DA-0376-4260-B778C48026C7}"/>
              </a:ext>
            </a:extLst>
          </p:cNvPr>
          <p:cNvSpPr/>
          <p:nvPr/>
        </p:nvSpPr>
        <p:spPr>
          <a:xfrm>
            <a:off x="411480" y="1419606"/>
            <a:ext cx="32004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4E4E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A01D2D8-8D78-EDB9-00F4-578B6FA7C21C}"/>
              </a:ext>
            </a:extLst>
          </p:cNvPr>
          <p:cNvSpPr/>
          <p:nvPr/>
        </p:nvSpPr>
        <p:spPr>
          <a:xfrm>
            <a:off x="777240" y="1419606"/>
            <a:ext cx="475488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</a:t>
            </a: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nginx:alpine</a:t>
            </a:r>
            <a:endParaRPr lang="en-US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5C09945-B19E-AAF5-FC0A-F21984F94086}"/>
              </a:ext>
            </a:extLst>
          </p:cNvPr>
          <p:cNvSpPr/>
          <p:nvPr/>
        </p:nvSpPr>
        <p:spPr>
          <a:xfrm>
            <a:off x="411480" y="1643634"/>
            <a:ext cx="32004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4E4E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9BC5001-F3B8-1FFB-7FC8-28D94BF8F1F8}"/>
              </a:ext>
            </a:extLst>
          </p:cNvPr>
          <p:cNvSpPr/>
          <p:nvPr/>
        </p:nvSpPr>
        <p:spPr>
          <a:xfrm>
            <a:off x="411480" y="1867662"/>
            <a:ext cx="32004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4E4E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699C99F-717B-1C23-905C-B562F54418D2}"/>
              </a:ext>
            </a:extLst>
          </p:cNvPr>
          <p:cNvSpPr/>
          <p:nvPr/>
        </p:nvSpPr>
        <p:spPr>
          <a:xfrm>
            <a:off x="777240" y="1867662"/>
            <a:ext cx="475488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-- Remove default nginx welcome page</a:t>
            </a:r>
            <a:endParaRPr lang="en-US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16F1DFC-AEDC-EC70-AB89-B244DA3A1EA6}"/>
              </a:ext>
            </a:extLst>
          </p:cNvPr>
          <p:cNvSpPr/>
          <p:nvPr/>
        </p:nvSpPr>
        <p:spPr>
          <a:xfrm>
            <a:off x="411480" y="2091690"/>
            <a:ext cx="32004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4E4E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83C7410-0401-2EFF-5B36-C4322367A99A}"/>
              </a:ext>
            </a:extLst>
          </p:cNvPr>
          <p:cNvSpPr/>
          <p:nvPr/>
        </p:nvSpPr>
        <p:spPr>
          <a:xfrm>
            <a:off x="777240" y="2091690"/>
            <a:ext cx="475488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</a:t>
            </a: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rm -rf /usr/share/nginx/html/*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F15B69E-6F96-757F-68A5-DED20EB231FA}"/>
              </a:ext>
            </a:extLst>
          </p:cNvPr>
          <p:cNvSpPr/>
          <p:nvPr/>
        </p:nvSpPr>
        <p:spPr>
          <a:xfrm>
            <a:off x="411480" y="2315718"/>
            <a:ext cx="32004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4E4E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9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E8F2B4C-D5A9-6F3E-6E0F-F9CCC5D36D09}"/>
              </a:ext>
            </a:extLst>
          </p:cNvPr>
          <p:cNvSpPr/>
          <p:nvPr/>
        </p:nvSpPr>
        <p:spPr>
          <a:xfrm>
            <a:off x="411480" y="2539746"/>
            <a:ext cx="32004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4E4E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1D77C89-C631-7CD5-C37B-944914D21D31}"/>
              </a:ext>
            </a:extLst>
          </p:cNvPr>
          <p:cNvSpPr/>
          <p:nvPr/>
        </p:nvSpPr>
        <p:spPr>
          <a:xfrm>
            <a:off x="777240" y="2539746"/>
            <a:ext cx="475488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-- Copy project files into nginx web root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0AEF062-6DF9-EB54-3120-AA19310762C4}"/>
              </a:ext>
            </a:extLst>
          </p:cNvPr>
          <p:cNvSpPr/>
          <p:nvPr/>
        </p:nvSpPr>
        <p:spPr>
          <a:xfrm>
            <a:off x="411480" y="2763774"/>
            <a:ext cx="32004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4E4E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5CDAFB6-749E-168A-AF2D-33747B5A2542}"/>
              </a:ext>
            </a:extLst>
          </p:cNvPr>
          <p:cNvSpPr/>
          <p:nvPr/>
        </p:nvSpPr>
        <p:spPr>
          <a:xfrm>
            <a:off x="777240" y="2763774"/>
            <a:ext cx="475488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COPY</a:t>
            </a: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. /usr/share/nginx/html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B9818B3-D8CF-B6B5-F858-2009886E37E9}"/>
              </a:ext>
            </a:extLst>
          </p:cNvPr>
          <p:cNvSpPr/>
          <p:nvPr/>
        </p:nvSpPr>
        <p:spPr>
          <a:xfrm>
            <a:off x="411480" y="2987802"/>
            <a:ext cx="32004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4E4E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</a:t>
            </a: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71647EF-A36A-4432-6117-97AE0E711D7B}"/>
              </a:ext>
            </a:extLst>
          </p:cNvPr>
          <p:cNvSpPr/>
          <p:nvPr/>
        </p:nvSpPr>
        <p:spPr>
          <a:xfrm>
            <a:off x="411480" y="3211830"/>
            <a:ext cx="32004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4E4E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17F99AD-BD4F-D612-2BD3-6629E8045F71}"/>
              </a:ext>
            </a:extLst>
          </p:cNvPr>
          <p:cNvSpPr/>
          <p:nvPr/>
        </p:nvSpPr>
        <p:spPr>
          <a:xfrm>
            <a:off x="777240" y="3211830"/>
            <a:ext cx="475488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-- Expose port 80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6FCFD96-C08F-2FF4-136E-CBC756EBFD58}"/>
              </a:ext>
            </a:extLst>
          </p:cNvPr>
          <p:cNvSpPr/>
          <p:nvPr/>
        </p:nvSpPr>
        <p:spPr>
          <a:xfrm>
            <a:off x="411480" y="3435858"/>
            <a:ext cx="32004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4E4E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</a:t>
            </a:r>
            <a:endParaRPr lang="en-US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E401848-59FA-6015-AEAB-3FEA73EE0F6A}"/>
              </a:ext>
            </a:extLst>
          </p:cNvPr>
          <p:cNvSpPr/>
          <p:nvPr/>
        </p:nvSpPr>
        <p:spPr>
          <a:xfrm>
            <a:off x="777240" y="3435858"/>
            <a:ext cx="475488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EXPOSE</a:t>
            </a: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80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22BDDF9-717A-A8C2-1BBD-057F8E518479}"/>
              </a:ext>
            </a:extLst>
          </p:cNvPr>
          <p:cNvSpPr/>
          <p:nvPr/>
        </p:nvSpPr>
        <p:spPr>
          <a:xfrm>
            <a:off x="411480" y="3659886"/>
            <a:ext cx="32004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4E4E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38CB786-F869-7800-E657-0B1932BE1379}"/>
              </a:ext>
            </a:extLst>
          </p:cNvPr>
          <p:cNvSpPr/>
          <p:nvPr/>
        </p:nvSpPr>
        <p:spPr>
          <a:xfrm>
            <a:off x="411480" y="3883914"/>
            <a:ext cx="32004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4E4E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</a:t>
            </a:r>
            <a:endParaRPr lang="en-US" sz="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7061670-D702-C495-F950-461192CCD3EC}"/>
              </a:ext>
            </a:extLst>
          </p:cNvPr>
          <p:cNvSpPr/>
          <p:nvPr/>
        </p:nvSpPr>
        <p:spPr>
          <a:xfrm>
            <a:off x="777240" y="3883914"/>
            <a:ext cx="475488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-- Start nginx in foreground</a:t>
            </a:r>
            <a:endParaRPr lang="en-US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1CB2DA8-236F-61B9-D648-A8564DDE1BC4}"/>
              </a:ext>
            </a:extLst>
          </p:cNvPr>
          <p:cNvSpPr/>
          <p:nvPr/>
        </p:nvSpPr>
        <p:spPr>
          <a:xfrm>
            <a:off x="411480" y="4107942"/>
            <a:ext cx="32004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4E4E4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</a:t>
            </a:r>
            <a:endParaRPr lang="en-US" sz="9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F4DD59F-21C9-ACED-1F56-52B4F248038C}"/>
              </a:ext>
            </a:extLst>
          </p:cNvPr>
          <p:cNvSpPr/>
          <p:nvPr/>
        </p:nvSpPr>
        <p:spPr>
          <a:xfrm>
            <a:off x="777240" y="4107942"/>
            <a:ext cx="4754880" cy="21031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CMD</a:t>
            </a: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["nginx", "-g", "daemon off;"]</a:t>
            </a: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D1E1D63-904D-0CD5-6282-BBF83DB3EB70}"/>
              </a:ext>
            </a:extLst>
          </p:cNvPr>
          <p:cNvSpPr/>
          <p:nvPr/>
        </p:nvSpPr>
        <p:spPr>
          <a:xfrm>
            <a:off x="5943600" y="857250"/>
            <a:ext cx="3017520" cy="34747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</a:rPr>
              <a:t>Line-by-Line Explanation</a:t>
            </a:r>
            <a:endParaRPr lang="en-US" sz="13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5B95A56E-B96E-3A6E-8A0B-7727049AE488}"/>
              </a:ext>
            </a:extLst>
          </p:cNvPr>
          <p:cNvSpPr/>
          <p:nvPr/>
        </p:nvSpPr>
        <p:spPr>
          <a:xfrm>
            <a:off x="5943600" y="1314450"/>
            <a:ext cx="3017520" cy="685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21EE555-8776-27E5-2BEA-F4EE8D2D9DF4}"/>
              </a:ext>
            </a:extLst>
          </p:cNvPr>
          <p:cNvSpPr/>
          <p:nvPr/>
        </p:nvSpPr>
        <p:spPr>
          <a:xfrm>
            <a:off x="6035040" y="1341882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nginx:alpine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4FF60BD-C352-C5A3-8901-C20DC4BB2E46}"/>
              </a:ext>
            </a:extLst>
          </p:cNvPr>
          <p:cNvSpPr/>
          <p:nvPr/>
        </p:nvSpPr>
        <p:spPr>
          <a:xfrm>
            <a:off x="6035040" y="1588770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Lightweight 10MB base image with Nginx web server built-in</a:t>
            </a:r>
            <a:endParaRPr lang="en-US" sz="9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4B65A1E4-03F5-6012-869C-9AA57D6440EE}"/>
              </a:ext>
            </a:extLst>
          </p:cNvPr>
          <p:cNvSpPr/>
          <p:nvPr/>
        </p:nvSpPr>
        <p:spPr>
          <a:xfrm>
            <a:off x="5943600" y="2064258"/>
            <a:ext cx="3017520" cy="685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A0D0DA6-A07F-AB8E-3A50-D10AE1B9D4C7}"/>
              </a:ext>
            </a:extLst>
          </p:cNvPr>
          <p:cNvSpPr/>
          <p:nvPr/>
        </p:nvSpPr>
        <p:spPr>
          <a:xfrm>
            <a:off x="6035040" y="209169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 rm -rf ...</a:t>
            </a: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7D211AF-70F3-055A-3B9D-78678558FF1E}"/>
              </a:ext>
            </a:extLst>
          </p:cNvPr>
          <p:cNvSpPr/>
          <p:nvPr/>
        </p:nvSpPr>
        <p:spPr>
          <a:xfrm>
            <a:off x="6035040" y="2338578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Clean out the default Nginx welcome page</a:t>
            </a:r>
            <a:endParaRPr lang="en-US" sz="9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D57ED1B-9B16-B330-AFF0-B3D49C581E19}"/>
              </a:ext>
            </a:extLst>
          </p:cNvPr>
          <p:cNvSpPr/>
          <p:nvPr/>
        </p:nvSpPr>
        <p:spPr>
          <a:xfrm>
            <a:off x="5943600" y="2814066"/>
            <a:ext cx="3017520" cy="685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47825681-6130-ECE5-6C25-1B84DB70C8A4}"/>
              </a:ext>
            </a:extLst>
          </p:cNvPr>
          <p:cNvSpPr/>
          <p:nvPr/>
        </p:nvSpPr>
        <p:spPr>
          <a:xfrm>
            <a:off x="6035040" y="2841498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COPY . /usr/share/...</a:t>
            </a:r>
            <a:endParaRPr lang="en-US" sz="9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3B2BE3A-E8EA-90F8-6DAA-70B853C7BCDE}"/>
              </a:ext>
            </a:extLst>
          </p:cNvPr>
          <p:cNvSpPr/>
          <p:nvPr/>
        </p:nvSpPr>
        <p:spPr>
          <a:xfrm>
            <a:off x="6035040" y="3088386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Copy all HTML/CSS/JS files into Nginx's web root directory</a:t>
            </a:r>
            <a:endParaRPr lang="en-US" sz="9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FC04F636-A740-2DBD-6532-8316D5A69ACD}"/>
              </a:ext>
            </a:extLst>
          </p:cNvPr>
          <p:cNvSpPr/>
          <p:nvPr/>
        </p:nvSpPr>
        <p:spPr>
          <a:xfrm>
            <a:off x="5943600" y="3563874"/>
            <a:ext cx="3017520" cy="685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6C9202E-B7C6-2BFF-F5C9-2F11C608890A}"/>
              </a:ext>
            </a:extLst>
          </p:cNvPr>
          <p:cNvSpPr/>
          <p:nvPr/>
        </p:nvSpPr>
        <p:spPr>
          <a:xfrm>
            <a:off x="6035040" y="3591306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EXPOSE 80</a:t>
            </a:r>
            <a:endParaRPr lang="en-US" sz="9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FAC06A5-1224-FD97-D91E-D51D2BA486A2}"/>
              </a:ext>
            </a:extLst>
          </p:cNvPr>
          <p:cNvSpPr/>
          <p:nvPr/>
        </p:nvSpPr>
        <p:spPr>
          <a:xfrm>
            <a:off x="6035040" y="3838194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Tells Docker the container listens on port 80 (HTTP)</a:t>
            </a:r>
            <a:endParaRPr lang="en-US" sz="9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08AF7227-1FFD-4046-8A28-BBF1AD6E240B}"/>
              </a:ext>
            </a:extLst>
          </p:cNvPr>
          <p:cNvSpPr/>
          <p:nvPr/>
        </p:nvSpPr>
        <p:spPr>
          <a:xfrm>
            <a:off x="5943600" y="4313682"/>
            <a:ext cx="3017520" cy="685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E20478F6-D4B8-36F4-AB8A-F856DCB7C588}"/>
              </a:ext>
            </a:extLst>
          </p:cNvPr>
          <p:cNvSpPr/>
          <p:nvPr/>
        </p:nvSpPr>
        <p:spPr>
          <a:xfrm>
            <a:off x="6035040" y="4341114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CMD ["nginx"...]</a:t>
            </a:r>
            <a:endParaRPr lang="en-US" sz="9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DD7B8C24-BD21-E81D-F9C7-1041D97CDE70}"/>
              </a:ext>
            </a:extLst>
          </p:cNvPr>
          <p:cNvSpPr/>
          <p:nvPr/>
        </p:nvSpPr>
        <p:spPr>
          <a:xfrm>
            <a:off x="6035040" y="4588002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Start Nginx server in foreground mode (required for Docker)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6599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BA0098-F192-45AC-B711-A1A3C799A8D9}"/>
              </a:ext>
            </a:extLst>
          </p:cNvPr>
          <p:cNvSpPr/>
          <p:nvPr/>
        </p:nvSpPr>
        <p:spPr>
          <a:xfrm>
            <a:off x="0" y="171450"/>
            <a:ext cx="9144000" cy="96012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6468EE-BF8D-037C-A762-AD351EA8AB44}"/>
              </a:ext>
            </a:extLst>
          </p:cNvPr>
          <p:cNvSpPr/>
          <p:nvPr/>
        </p:nvSpPr>
        <p:spPr>
          <a:xfrm>
            <a:off x="365760" y="171450"/>
            <a:ext cx="7772400" cy="9601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KUBERNETES</a:t>
            </a:r>
            <a:endParaRPr lang="en-US" sz="2600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5AC06DC3-7F17-D504-2CA5-961F274D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54330"/>
            <a:ext cx="594360" cy="59436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D04D11FC-932C-B5FE-16B8-21D8C726C1A9}"/>
              </a:ext>
            </a:extLst>
          </p:cNvPr>
          <p:cNvSpPr/>
          <p:nvPr/>
        </p:nvSpPr>
        <p:spPr>
          <a:xfrm>
            <a:off x="274320" y="1223010"/>
            <a:ext cx="8595360" cy="3749040"/>
          </a:xfrm>
          <a:prstGeom prst="rect">
            <a:avLst/>
          </a:prstGeom>
          <a:solidFill>
            <a:srgbClr val="0077B6">
              <a:alpha val="12000"/>
            </a:srgbClr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9DB05AC-2FCF-BAEF-81CA-CD8B9CFA8D88}"/>
              </a:ext>
            </a:extLst>
          </p:cNvPr>
          <p:cNvSpPr/>
          <p:nvPr/>
        </p:nvSpPr>
        <p:spPr>
          <a:xfrm>
            <a:off x="457200" y="1250442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Namespace: elearning</a:t>
            </a:r>
            <a:endParaRPr lang="en-US" sz="11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B22323E-A65B-212A-CFE6-D8C114B2253F}"/>
              </a:ext>
            </a:extLst>
          </p:cNvPr>
          <p:cNvSpPr/>
          <p:nvPr/>
        </p:nvSpPr>
        <p:spPr>
          <a:xfrm>
            <a:off x="502920" y="1725930"/>
            <a:ext cx="1783080" cy="146304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>
            <a:extLst>
              <a:ext uri="{FF2B5EF4-FFF2-40B4-BE49-F238E27FC236}">
                <a16:creationId xmlns:a16="http://schemas.microsoft.com/office/drawing/2014/main" id="{C8C81931-B148-7AFF-A462-B43512D4D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817370"/>
            <a:ext cx="457200" cy="45720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3AEF589D-63BF-3818-DE8D-C4D5F48DBEE0}"/>
              </a:ext>
            </a:extLst>
          </p:cNvPr>
          <p:cNvSpPr/>
          <p:nvPr/>
        </p:nvSpPr>
        <p:spPr>
          <a:xfrm>
            <a:off x="548640" y="2320290"/>
            <a:ext cx="1691640" cy="34747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Namespace</a:t>
            </a:r>
            <a:endParaRPr lang="en-US" sz="1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EBD6DBB-C445-4F1D-71EA-B89BD84E6508}"/>
              </a:ext>
            </a:extLst>
          </p:cNvPr>
          <p:cNvSpPr/>
          <p:nvPr/>
        </p:nvSpPr>
        <p:spPr>
          <a:xfrm>
            <a:off x="548640" y="268605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elearning</a:t>
            </a:r>
            <a:endParaRPr lang="en-US" sz="95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5B9BFDCE-E58B-B4C0-7097-C461EC38A5B4}"/>
              </a:ext>
            </a:extLst>
          </p:cNvPr>
          <p:cNvSpPr/>
          <p:nvPr/>
        </p:nvSpPr>
        <p:spPr>
          <a:xfrm>
            <a:off x="2148840" y="2411730"/>
            <a:ext cx="640080" cy="457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163228C-180A-CD67-A1A2-16B1AFC27E6F}"/>
              </a:ext>
            </a:extLst>
          </p:cNvPr>
          <p:cNvSpPr/>
          <p:nvPr/>
        </p:nvSpPr>
        <p:spPr>
          <a:xfrm>
            <a:off x="2788920" y="2247138"/>
            <a:ext cx="274320" cy="329184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3CAB3B95-9CAD-4D1D-E1FF-A4702D079673}"/>
              </a:ext>
            </a:extLst>
          </p:cNvPr>
          <p:cNvSpPr/>
          <p:nvPr/>
        </p:nvSpPr>
        <p:spPr>
          <a:xfrm>
            <a:off x="2514600" y="1725930"/>
            <a:ext cx="1783080" cy="1463040"/>
          </a:xfrm>
          <a:prstGeom prst="rect">
            <a:avLst/>
          </a:prstGeom>
          <a:solidFill>
            <a:srgbClr val="326CE5">
              <a:alpha val="85000"/>
            </a:srgbClr>
          </a:solidFill>
          <a:ln w="12700">
            <a:solidFill>
              <a:srgbClr val="326C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2">
            <a:extLst>
              <a:ext uri="{FF2B5EF4-FFF2-40B4-BE49-F238E27FC236}">
                <a16:creationId xmlns:a16="http://schemas.microsoft.com/office/drawing/2014/main" id="{57600BFF-3CCB-3526-D7AD-21E92D6E8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817370"/>
            <a:ext cx="457200" cy="45720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C1F25EEE-7118-A5ED-A536-F6B4FB8D77EF}"/>
              </a:ext>
            </a:extLst>
          </p:cNvPr>
          <p:cNvSpPr/>
          <p:nvPr/>
        </p:nvSpPr>
        <p:spPr>
          <a:xfrm>
            <a:off x="2560320" y="2320290"/>
            <a:ext cx="1691640" cy="34747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C8A2EAF-7C36-FA82-5D0F-19C9E59C51D3}"/>
              </a:ext>
            </a:extLst>
          </p:cNvPr>
          <p:cNvSpPr/>
          <p:nvPr/>
        </p:nvSpPr>
        <p:spPr>
          <a:xfrm>
            <a:off x="2560320" y="268605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elearning-deployment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Replicas</a:t>
            </a:r>
            <a:endParaRPr lang="en-US" sz="95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59FE53B7-2B20-D632-3B50-B61807AA695A}"/>
              </a:ext>
            </a:extLst>
          </p:cNvPr>
          <p:cNvSpPr/>
          <p:nvPr/>
        </p:nvSpPr>
        <p:spPr>
          <a:xfrm>
            <a:off x="4297680" y="2384298"/>
            <a:ext cx="640080" cy="457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5DC5C35-4310-38F6-7481-F771C0FC8D04}"/>
              </a:ext>
            </a:extLst>
          </p:cNvPr>
          <p:cNvSpPr/>
          <p:nvPr/>
        </p:nvSpPr>
        <p:spPr>
          <a:xfrm>
            <a:off x="4800600" y="2247138"/>
            <a:ext cx="274320" cy="329184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76C7A5B6-BA79-DD04-38AD-06FBAD267245}"/>
              </a:ext>
            </a:extLst>
          </p:cNvPr>
          <p:cNvSpPr/>
          <p:nvPr/>
        </p:nvSpPr>
        <p:spPr>
          <a:xfrm>
            <a:off x="4526280" y="1725930"/>
            <a:ext cx="1783080" cy="1463040"/>
          </a:xfrm>
          <a:prstGeom prst="rect">
            <a:avLst/>
          </a:prstGeom>
          <a:solidFill>
            <a:srgbClr val="7B42BC">
              <a:alpha val="85000"/>
            </a:srgbClr>
          </a:solidFill>
          <a:ln w="12700">
            <a:solidFill>
              <a:srgbClr val="7B42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3">
            <a:extLst>
              <a:ext uri="{FF2B5EF4-FFF2-40B4-BE49-F238E27FC236}">
                <a16:creationId xmlns:a16="http://schemas.microsoft.com/office/drawing/2014/main" id="{8D79658F-B2AD-F9C1-C2F2-5F1E0764C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1817370"/>
            <a:ext cx="457200" cy="457200"/>
          </a:xfrm>
          <a:prstGeom prst="rect">
            <a:avLst/>
          </a:prstGeom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A6806E06-E2DB-F054-9514-8C755AB94D22}"/>
              </a:ext>
            </a:extLst>
          </p:cNvPr>
          <p:cNvSpPr/>
          <p:nvPr/>
        </p:nvSpPr>
        <p:spPr>
          <a:xfrm>
            <a:off x="4572000" y="2320290"/>
            <a:ext cx="1691640" cy="34747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</a:t>
            </a:r>
            <a:endParaRPr lang="en-US" sz="14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5869E10D-747B-9E2B-E064-57A9AC35A9FF}"/>
              </a:ext>
            </a:extLst>
          </p:cNvPr>
          <p:cNvSpPr/>
          <p:nvPr/>
        </p:nvSpPr>
        <p:spPr>
          <a:xfrm>
            <a:off x="4572000" y="268605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NodePort :30007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 80 → 80</a:t>
            </a:r>
            <a:endParaRPr lang="en-US" sz="95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6B368FBE-74A5-3945-10F1-1E81BEAD4EF2}"/>
              </a:ext>
            </a:extLst>
          </p:cNvPr>
          <p:cNvSpPr/>
          <p:nvPr/>
        </p:nvSpPr>
        <p:spPr>
          <a:xfrm>
            <a:off x="6309360" y="2384298"/>
            <a:ext cx="640080" cy="457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9406D95E-1874-185B-ECD7-1B4187C0D947}"/>
              </a:ext>
            </a:extLst>
          </p:cNvPr>
          <p:cNvSpPr/>
          <p:nvPr/>
        </p:nvSpPr>
        <p:spPr>
          <a:xfrm>
            <a:off x="6812280" y="2247138"/>
            <a:ext cx="274320" cy="329184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4B100AE2-4322-72EB-E75E-28C8F536B037}"/>
              </a:ext>
            </a:extLst>
          </p:cNvPr>
          <p:cNvSpPr/>
          <p:nvPr/>
        </p:nvSpPr>
        <p:spPr>
          <a:xfrm>
            <a:off x="6537960" y="1725930"/>
            <a:ext cx="1783080" cy="146304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4">
            <a:extLst>
              <a:ext uri="{FF2B5EF4-FFF2-40B4-BE49-F238E27FC236}">
                <a16:creationId xmlns:a16="http://schemas.microsoft.com/office/drawing/2014/main" id="{37FD8B38-7891-CED9-1B90-A539825C8E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472" y="1817370"/>
            <a:ext cx="457200" cy="457200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929A7773-61A5-493A-4A5B-E1A716507812}"/>
              </a:ext>
            </a:extLst>
          </p:cNvPr>
          <p:cNvSpPr/>
          <p:nvPr/>
        </p:nvSpPr>
        <p:spPr>
          <a:xfrm>
            <a:off x="6583680" y="2320290"/>
            <a:ext cx="1691640" cy="34747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</a:t>
            </a:r>
            <a:endParaRPr lang="en-US" sz="14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AD5B5859-0DA6-F04F-9287-469D625552EE}"/>
              </a:ext>
            </a:extLst>
          </p:cNvPr>
          <p:cNvSpPr/>
          <p:nvPr/>
        </p:nvSpPr>
        <p:spPr>
          <a:xfrm>
            <a:off x="6583680" y="268605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2–6 Pods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70%</a:t>
            </a:r>
            <a:endParaRPr lang="en-US" sz="95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626B7A09-9FA1-6957-1447-4EB6D775705D}"/>
              </a:ext>
            </a:extLst>
          </p:cNvPr>
          <p:cNvSpPr/>
          <p:nvPr/>
        </p:nvSpPr>
        <p:spPr>
          <a:xfrm>
            <a:off x="502920" y="3417570"/>
            <a:ext cx="8138160" cy="1417320"/>
          </a:xfrm>
          <a:prstGeom prst="rect">
            <a:avLst/>
          </a:prstGeom>
          <a:solidFill>
            <a:srgbClr val="1E2D3D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6F3C5704-2EF6-A47F-4F23-3F6D616FDB7E}"/>
              </a:ext>
            </a:extLst>
          </p:cNvPr>
          <p:cNvSpPr/>
          <p:nvPr/>
        </p:nvSpPr>
        <p:spPr>
          <a:xfrm>
            <a:off x="685800" y="348157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Container Details</a:t>
            </a:r>
            <a:endParaRPr lang="en-US" sz="1200" dirty="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D500513E-97A3-24C1-4B17-446CEA2CF875}"/>
              </a:ext>
            </a:extLst>
          </p:cNvPr>
          <p:cNvSpPr/>
          <p:nvPr/>
        </p:nvSpPr>
        <p:spPr>
          <a:xfrm>
            <a:off x="685800" y="387477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Image: </a:t>
            </a:r>
            <a:endParaRPr lang="en-US" sz="1050" dirty="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D7C84A17-77B8-10D3-F473-E0B4D49C5BDA}"/>
              </a:ext>
            </a:extLst>
          </p:cNvPr>
          <p:cNvSpPr/>
          <p:nvPr/>
        </p:nvSpPr>
        <p:spPr>
          <a:xfrm>
            <a:off x="1920240" y="387477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rachna06/e-learning:latest</a:t>
            </a:r>
            <a:endParaRPr lang="en-US" sz="1050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DA89DB61-3DD5-5E78-00C8-6AB4613411AC}"/>
              </a:ext>
            </a:extLst>
          </p:cNvPr>
          <p:cNvSpPr/>
          <p:nvPr/>
        </p:nvSpPr>
        <p:spPr>
          <a:xfrm>
            <a:off x="685800" y="4258818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Container Port: </a:t>
            </a:r>
            <a:endParaRPr lang="en-US" sz="105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9F5A0932-564A-F213-D50E-F7748E2EBD39}"/>
              </a:ext>
            </a:extLst>
          </p:cNvPr>
          <p:cNvSpPr/>
          <p:nvPr/>
        </p:nvSpPr>
        <p:spPr>
          <a:xfrm>
            <a:off x="1920240" y="4258818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80</a:t>
            </a:r>
            <a:endParaRPr lang="en-US" sz="1050" dirty="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B127746A-DB37-7141-C5ED-D7A34F8607AF}"/>
              </a:ext>
            </a:extLst>
          </p:cNvPr>
          <p:cNvSpPr/>
          <p:nvPr/>
        </p:nvSpPr>
        <p:spPr>
          <a:xfrm>
            <a:off x="4709160" y="3874770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CPU Request: </a:t>
            </a:r>
            <a:endParaRPr lang="en-US" sz="1050" dirty="0"/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0795B1B2-AC3C-8F0D-BF85-F58143836E1E}"/>
              </a:ext>
            </a:extLst>
          </p:cNvPr>
          <p:cNvSpPr/>
          <p:nvPr/>
        </p:nvSpPr>
        <p:spPr>
          <a:xfrm>
            <a:off x="5943600" y="387477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100m  │  Limit: 300m</a:t>
            </a:r>
            <a:endParaRPr lang="en-US" sz="1050" dirty="0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E4BCF4CC-7336-437C-B30F-ADC42CB5766A}"/>
              </a:ext>
            </a:extLst>
          </p:cNvPr>
          <p:cNvSpPr/>
          <p:nvPr/>
        </p:nvSpPr>
        <p:spPr>
          <a:xfrm>
            <a:off x="4709160" y="4258818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CBD5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Mem Request: </a:t>
            </a:r>
            <a:endParaRPr lang="en-US" sz="1050" dirty="0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6B5A7F31-BBB7-1F65-DD15-02FC9CB8EFBA}"/>
              </a:ext>
            </a:extLst>
          </p:cNvPr>
          <p:cNvSpPr/>
          <p:nvPr/>
        </p:nvSpPr>
        <p:spPr>
          <a:xfrm>
            <a:off x="5943600" y="4258818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64Mi  │  Limit: 128Mi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011265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0BCFB3-B7E2-674A-5BCD-036A6FA10BAD}"/>
              </a:ext>
            </a:extLst>
          </p:cNvPr>
          <p:cNvSpPr/>
          <p:nvPr/>
        </p:nvSpPr>
        <p:spPr>
          <a:xfrm>
            <a:off x="0" y="194310"/>
            <a:ext cx="9144000" cy="960120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57DD2C-0DED-9EC3-A1EA-3914A1EB7692}"/>
              </a:ext>
            </a:extLst>
          </p:cNvPr>
          <p:cNvSpPr/>
          <p:nvPr/>
        </p:nvSpPr>
        <p:spPr>
          <a:xfrm>
            <a:off x="365760" y="194310"/>
            <a:ext cx="7772400" cy="9601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NAMESPACE &amp; DEPLOYMENT</a:t>
            </a:r>
            <a:endParaRPr lang="en-US" sz="2600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FB1F1E5E-042F-0FA2-F01A-74FF25DA7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77190"/>
            <a:ext cx="594360" cy="59436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4A508981-F0F0-909F-C769-C73579A4EF9D}"/>
              </a:ext>
            </a:extLst>
          </p:cNvPr>
          <p:cNvSpPr/>
          <p:nvPr/>
        </p:nvSpPr>
        <p:spPr>
          <a:xfrm>
            <a:off x="274320" y="1291590"/>
            <a:ext cx="4114800" cy="3657600"/>
          </a:xfrm>
          <a:prstGeom prst="rect">
            <a:avLst/>
          </a:prstGeom>
          <a:solidFill>
            <a:srgbClr val="1E2D3D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48F72A2-DFFD-0095-6FE4-CAB11168601F}"/>
              </a:ext>
            </a:extLst>
          </p:cNvPr>
          <p:cNvSpPr/>
          <p:nvPr/>
        </p:nvSpPr>
        <p:spPr>
          <a:xfrm>
            <a:off x="274320" y="1291590"/>
            <a:ext cx="4114800" cy="384048"/>
          </a:xfrm>
          <a:prstGeom prst="rect">
            <a:avLst/>
          </a:prstGeom>
          <a:solidFill>
            <a:srgbClr val="00B4D8">
              <a:alpha val="80000"/>
            </a:srgbClr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BD1C361-6B17-617A-42BD-DF3B75385982}"/>
              </a:ext>
            </a:extLst>
          </p:cNvPr>
          <p:cNvSpPr/>
          <p:nvPr/>
        </p:nvSpPr>
        <p:spPr>
          <a:xfrm>
            <a:off x="411480" y="129159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📄  namespace.yaml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8BE0801-5324-31CE-A93C-803AD3F9644D}"/>
              </a:ext>
            </a:extLst>
          </p:cNvPr>
          <p:cNvSpPr/>
          <p:nvPr/>
        </p:nvSpPr>
        <p:spPr>
          <a:xfrm>
            <a:off x="411480" y="1767078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apiVersion: v1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kind: Namespace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metadata: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name: elearning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D710C30-1887-F292-8663-966687DAF154}"/>
              </a:ext>
            </a:extLst>
          </p:cNvPr>
          <p:cNvSpPr/>
          <p:nvPr/>
        </p:nvSpPr>
        <p:spPr>
          <a:xfrm>
            <a:off x="274320" y="2891790"/>
            <a:ext cx="4114800" cy="54864"/>
          </a:xfrm>
          <a:prstGeom prst="rect">
            <a:avLst/>
          </a:prstGeom>
          <a:solidFill>
            <a:srgbClr val="00B4D8">
              <a:alpha val="40000"/>
            </a:srgbClr>
          </a:solidFill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679225E-CF31-40F3-B0E2-BFBB1D84C1D5}"/>
              </a:ext>
            </a:extLst>
          </p:cNvPr>
          <p:cNvSpPr/>
          <p:nvPr/>
        </p:nvSpPr>
        <p:spPr>
          <a:xfrm>
            <a:off x="411480" y="3010662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Points: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C48DF1B-08D6-4D28-807C-56606D54424A}"/>
              </a:ext>
            </a:extLst>
          </p:cNvPr>
          <p:cNvSpPr/>
          <p:nvPr/>
        </p:nvSpPr>
        <p:spPr>
          <a:xfrm>
            <a:off x="411480" y="3348990"/>
            <a:ext cx="3840480" cy="14173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isolated environment 'elearning'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Logical boundary for all K8s resources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conflicts with other namespaces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86308DD-2C8F-2E4E-2333-8742ACF131E7}"/>
              </a:ext>
            </a:extLst>
          </p:cNvPr>
          <p:cNvSpPr/>
          <p:nvPr/>
        </p:nvSpPr>
        <p:spPr>
          <a:xfrm>
            <a:off x="4754880" y="1291590"/>
            <a:ext cx="4114800" cy="3657600"/>
          </a:xfrm>
          <a:prstGeom prst="rect">
            <a:avLst/>
          </a:prstGeom>
          <a:solidFill>
            <a:srgbClr val="1E2D3D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66F8803-74A9-3397-C113-CEE254006199}"/>
              </a:ext>
            </a:extLst>
          </p:cNvPr>
          <p:cNvSpPr/>
          <p:nvPr/>
        </p:nvSpPr>
        <p:spPr>
          <a:xfrm>
            <a:off x="4754880" y="1291590"/>
            <a:ext cx="4114800" cy="384048"/>
          </a:xfrm>
          <a:prstGeom prst="rect">
            <a:avLst/>
          </a:prstGeom>
          <a:solidFill>
            <a:srgbClr val="326CE5">
              <a:alpha val="80000"/>
            </a:srgbClr>
          </a:solidFill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F1769C4-5971-05E6-F4EC-188FF2C5B058}"/>
              </a:ext>
            </a:extLst>
          </p:cNvPr>
          <p:cNvSpPr/>
          <p:nvPr/>
        </p:nvSpPr>
        <p:spPr>
          <a:xfrm>
            <a:off x="4892040" y="129159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📄  deployment.yaml</a:t>
            </a:r>
            <a:endParaRPr lang="en-US" sz="1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8E98009-CA1D-5BD1-7450-71023D62065D}"/>
              </a:ext>
            </a:extLst>
          </p:cNvPr>
          <p:cNvSpPr/>
          <p:nvPr/>
        </p:nvSpPr>
        <p:spPr>
          <a:xfrm>
            <a:off x="4892040" y="1767078"/>
            <a:ext cx="3840480" cy="19202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name: </a:t>
            </a:r>
            <a:r>
              <a:rPr lang="en-US" sz="950" dirty="0" err="1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elearning</a:t>
            </a: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-deployment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namespace: </a:t>
            </a:r>
            <a:r>
              <a:rPr lang="en-US" sz="950" dirty="0" err="1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elearning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replicas: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image: rachna06/</a:t>
            </a:r>
            <a:r>
              <a:rPr lang="en-US" sz="950" dirty="0" err="1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e-learning:latest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 err="1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containerPort</a:t>
            </a: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80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resources: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requests: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950" dirty="0" err="1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cpu</a:t>
            </a: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"100m"  memory: "64Mi"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limits: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950" dirty="0" err="1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cpu</a:t>
            </a: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"300m"  memory: "128Mi"</a:t>
            </a:r>
            <a:endParaRPr lang="en-US" sz="95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76A1539-B7E7-E5FC-4DDC-4F5A3F64CFFD}"/>
              </a:ext>
            </a:extLst>
          </p:cNvPr>
          <p:cNvSpPr/>
          <p:nvPr/>
        </p:nvSpPr>
        <p:spPr>
          <a:xfrm>
            <a:off x="4754880" y="3714750"/>
            <a:ext cx="4114800" cy="54864"/>
          </a:xfrm>
          <a:prstGeom prst="rect">
            <a:avLst/>
          </a:prstGeom>
          <a:solidFill>
            <a:srgbClr val="326CE5">
              <a:alpha val="40000"/>
            </a:srgbClr>
          </a:solidFill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FF1554E-CFEF-0CE8-C7F2-1E1D42540F2F}"/>
              </a:ext>
            </a:extLst>
          </p:cNvPr>
          <p:cNvSpPr/>
          <p:nvPr/>
        </p:nvSpPr>
        <p:spPr>
          <a:xfrm>
            <a:off x="4892040" y="3833622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Points:</a:t>
            </a:r>
            <a:endParaRPr lang="en-US" sz="1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F570474-5800-80EA-CD1C-142F079256E3}"/>
              </a:ext>
            </a:extLst>
          </p:cNvPr>
          <p:cNvSpPr/>
          <p:nvPr/>
        </p:nvSpPr>
        <p:spPr>
          <a:xfrm>
            <a:off x="4892040" y="4171950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replicas ensure high availability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&amp; memory limits prevent resource abuse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selector: app=elearning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62823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872CDD-8ACD-0B49-7862-D6B5069733D3}"/>
              </a:ext>
            </a:extLst>
          </p:cNvPr>
          <p:cNvSpPr/>
          <p:nvPr/>
        </p:nvSpPr>
        <p:spPr>
          <a:xfrm>
            <a:off x="0" y="139446"/>
            <a:ext cx="9144000" cy="960120"/>
          </a:xfrm>
          <a:prstGeom prst="rect">
            <a:avLst/>
          </a:prstGeom>
          <a:solidFill>
            <a:srgbClr val="7B42BC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FEDE1D-283F-D20E-0E13-B0256CE2566D}"/>
              </a:ext>
            </a:extLst>
          </p:cNvPr>
          <p:cNvSpPr/>
          <p:nvPr/>
        </p:nvSpPr>
        <p:spPr>
          <a:xfrm>
            <a:off x="365760" y="139446"/>
            <a:ext cx="7772400" cy="9601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CONFIGURATION</a:t>
            </a:r>
            <a:endParaRPr lang="en-US" sz="2600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841B6D63-FF81-5079-361E-A598CAFBC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40614"/>
            <a:ext cx="548640" cy="54864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0DA53AB8-3DC4-2441-F3A1-99B0C3CD9228}"/>
              </a:ext>
            </a:extLst>
          </p:cNvPr>
          <p:cNvSpPr/>
          <p:nvPr/>
        </p:nvSpPr>
        <p:spPr>
          <a:xfrm>
            <a:off x="228600" y="1179928"/>
            <a:ext cx="4389120" cy="3657600"/>
          </a:xfrm>
          <a:prstGeom prst="rect">
            <a:avLst/>
          </a:prstGeom>
          <a:solidFill>
            <a:srgbClr val="1E2D3D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5BB6C1B-5E5A-62BF-0CFD-8B90E486DBF8}"/>
              </a:ext>
            </a:extLst>
          </p:cNvPr>
          <p:cNvSpPr/>
          <p:nvPr/>
        </p:nvSpPr>
        <p:spPr>
          <a:xfrm>
            <a:off x="365760" y="1236726"/>
            <a:ext cx="4389120" cy="384048"/>
          </a:xfrm>
          <a:prstGeom prst="rect">
            <a:avLst/>
          </a:prstGeom>
          <a:solidFill>
            <a:srgbClr val="7B42BC">
              <a:alpha val="80000"/>
            </a:srgbClr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4F0238C-2E19-7FB4-9F1E-649D06646D04}"/>
              </a:ext>
            </a:extLst>
          </p:cNvPr>
          <p:cNvSpPr/>
          <p:nvPr/>
        </p:nvSpPr>
        <p:spPr>
          <a:xfrm>
            <a:off x="502920" y="1236726"/>
            <a:ext cx="4114800" cy="384048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📄  service.yaml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8996FE7-53C1-1735-CD63-52FC20DBB0FD}"/>
              </a:ext>
            </a:extLst>
          </p:cNvPr>
          <p:cNvSpPr/>
          <p:nvPr/>
        </p:nvSpPr>
        <p:spPr>
          <a:xfrm>
            <a:off x="502920" y="1712214"/>
            <a:ext cx="4160520" cy="30632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err="1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apiVersion</a:t>
            </a:r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v1</a:t>
            </a:r>
          </a:p>
          <a:p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kind: Service</a:t>
            </a:r>
          </a:p>
          <a:p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metadata:</a:t>
            </a:r>
          </a:p>
          <a:p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name: </a:t>
            </a:r>
            <a:r>
              <a:rPr lang="en-US" sz="1050" dirty="0" err="1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elearning</a:t>
            </a:r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-service</a:t>
            </a:r>
          </a:p>
          <a:p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namespace: </a:t>
            </a:r>
            <a:r>
              <a:rPr lang="en-US" sz="1050" dirty="0" err="1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elearning</a:t>
            </a:r>
            <a:endParaRPr lang="en-US" sz="1050" dirty="0">
              <a:solidFill>
                <a:srgbClr val="A8D8E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spec:</a:t>
            </a:r>
          </a:p>
          <a:p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type: </a:t>
            </a:r>
            <a:r>
              <a:rPr lang="en-US" sz="1050" dirty="0" err="1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NodePort</a:t>
            </a:r>
            <a:endParaRPr lang="en-US" sz="1050" dirty="0">
              <a:solidFill>
                <a:srgbClr val="A8D8E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selector:</a:t>
            </a:r>
          </a:p>
          <a:p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app: </a:t>
            </a:r>
            <a:r>
              <a:rPr lang="en-US" sz="1050" dirty="0" err="1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elearning</a:t>
            </a:r>
            <a:endParaRPr lang="en-US" sz="1050" dirty="0">
              <a:solidFill>
                <a:srgbClr val="A8D8E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ports:</a:t>
            </a:r>
          </a:p>
          <a:p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- protocol: TCP</a:t>
            </a:r>
          </a:p>
          <a:p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port: 80</a:t>
            </a:r>
          </a:p>
          <a:p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</a:t>
            </a:r>
            <a:r>
              <a:rPr lang="en-US" sz="1050" dirty="0" err="1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targetPort</a:t>
            </a:r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80</a:t>
            </a:r>
          </a:p>
          <a:p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</a:t>
            </a:r>
            <a:r>
              <a:rPr lang="en-US" sz="1050" dirty="0" err="1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nodePort</a:t>
            </a:r>
            <a:r>
              <a:rPr lang="en-US" sz="10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30007</a:t>
            </a: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E932A1C-5AB6-D48F-B072-CEB2C2435B3D}"/>
              </a:ext>
            </a:extLst>
          </p:cNvPr>
          <p:cNvSpPr/>
          <p:nvPr/>
        </p:nvSpPr>
        <p:spPr>
          <a:xfrm>
            <a:off x="5074920" y="1236726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 Flow</a:t>
            </a:r>
            <a:endParaRPr lang="en-US" sz="18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38B8118-93F4-3D2D-A761-375EB2DE3118}"/>
              </a:ext>
            </a:extLst>
          </p:cNvPr>
          <p:cNvSpPr/>
          <p:nvPr/>
        </p:nvSpPr>
        <p:spPr>
          <a:xfrm>
            <a:off x="5074920" y="1739646"/>
            <a:ext cx="3657600" cy="658368"/>
          </a:xfrm>
          <a:prstGeom prst="rect">
            <a:avLst/>
          </a:prstGeom>
          <a:solidFill>
            <a:srgbClr val="7B42BC">
              <a:alpha val="80000"/>
            </a:srgbClr>
          </a:solidFill>
          <a:ln w="10160">
            <a:solidFill>
              <a:srgbClr val="7B42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DA29595-F0D3-B94E-C8BB-19204421F799}"/>
              </a:ext>
            </a:extLst>
          </p:cNvPr>
          <p:cNvSpPr/>
          <p:nvPr/>
        </p:nvSpPr>
        <p:spPr>
          <a:xfrm>
            <a:off x="5212080" y="1785366"/>
            <a:ext cx="3383280" cy="329184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User</a:t>
            </a:r>
            <a:endParaRPr lang="en-US" sz="13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3AB04F2-8D02-398D-57CF-D5719F3745BF}"/>
              </a:ext>
            </a:extLst>
          </p:cNvPr>
          <p:cNvSpPr/>
          <p:nvPr/>
        </p:nvSpPr>
        <p:spPr>
          <a:xfrm>
            <a:off x="5212080" y="2087118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 / Client</a:t>
            </a:r>
            <a:endParaRPr lang="en-US" sz="10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36ED7EF-D86C-977C-458D-5A4974C6C32C}"/>
              </a:ext>
            </a:extLst>
          </p:cNvPr>
          <p:cNvSpPr/>
          <p:nvPr/>
        </p:nvSpPr>
        <p:spPr>
          <a:xfrm>
            <a:off x="6675120" y="2398014"/>
            <a:ext cx="365760" cy="292608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</a:rPr>
              <a:t>▼</a:t>
            </a:r>
            <a:endParaRPr lang="en-US" sz="16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E4281FC-5C9E-BC0A-909B-E6B50AB5BAC7}"/>
              </a:ext>
            </a:extLst>
          </p:cNvPr>
          <p:cNvSpPr/>
          <p:nvPr/>
        </p:nvSpPr>
        <p:spPr>
          <a:xfrm>
            <a:off x="5074920" y="2608326"/>
            <a:ext cx="3657600" cy="658368"/>
          </a:xfrm>
          <a:prstGeom prst="rect">
            <a:avLst/>
          </a:prstGeom>
          <a:solidFill>
            <a:srgbClr val="00B4D8">
              <a:alpha val="80000"/>
            </a:srgbClr>
          </a:solidFill>
          <a:ln w="1016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0EABB64-C5AC-7821-659E-859B9D7F606B}"/>
              </a:ext>
            </a:extLst>
          </p:cNvPr>
          <p:cNvSpPr/>
          <p:nvPr/>
        </p:nvSpPr>
        <p:spPr>
          <a:xfrm>
            <a:off x="5212080" y="2654046"/>
            <a:ext cx="3383280" cy="329184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NodePort 30007</a:t>
            </a:r>
            <a:endParaRPr lang="en-US" sz="13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2EA238B-A967-7045-2090-E4F6241F1DCF}"/>
              </a:ext>
            </a:extLst>
          </p:cNvPr>
          <p:cNvSpPr/>
          <p:nvPr/>
        </p:nvSpPr>
        <p:spPr>
          <a:xfrm>
            <a:off x="5212080" y="2955798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 external port</a:t>
            </a:r>
            <a:endParaRPr lang="en-US" sz="10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50D1D25-13F9-A2D3-0E25-A59EF3D876D9}"/>
              </a:ext>
            </a:extLst>
          </p:cNvPr>
          <p:cNvSpPr/>
          <p:nvPr/>
        </p:nvSpPr>
        <p:spPr>
          <a:xfrm>
            <a:off x="6675120" y="3266694"/>
            <a:ext cx="365760" cy="292608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</a:rPr>
              <a:t>▼</a:t>
            </a:r>
            <a:endParaRPr lang="en-US" sz="16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BC34F9D0-0557-1D49-4A30-19EFE94CF761}"/>
              </a:ext>
            </a:extLst>
          </p:cNvPr>
          <p:cNvSpPr/>
          <p:nvPr/>
        </p:nvSpPr>
        <p:spPr>
          <a:xfrm>
            <a:off x="5074920" y="3477006"/>
            <a:ext cx="3657600" cy="658368"/>
          </a:xfrm>
          <a:prstGeom prst="rect">
            <a:avLst/>
          </a:prstGeom>
          <a:solidFill>
            <a:srgbClr val="326CE5">
              <a:alpha val="80000"/>
            </a:srgbClr>
          </a:solidFill>
          <a:ln w="10160">
            <a:solidFill>
              <a:srgbClr val="326C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BB1AF6E-B2E2-6177-13B5-FE7287A50394}"/>
              </a:ext>
            </a:extLst>
          </p:cNvPr>
          <p:cNvSpPr/>
          <p:nvPr/>
        </p:nvSpPr>
        <p:spPr>
          <a:xfrm>
            <a:off x="5212080" y="3522726"/>
            <a:ext cx="3383280" cy="329184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ClusterIP :80</a:t>
            </a:r>
            <a:endParaRPr lang="en-US" sz="13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E01EC26-4356-6009-3D7D-83FFA745A0A0}"/>
              </a:ext>
            </a:extLst>
          </p:cNvPr>
          <p:cNvSpPr/>
          <p:nvPr/>
        </p:nvSpPr>
        <p:spPr>
          <a:xfrm>
            <a:off x="5212080" y="3824478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Internal service</a:t>
            </a:r>
            <a:endParaRPr lang="en-US" sz="10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33B51BC-0467-F31E-5BE1-60C43109E697}"/>
              </a:ext>
            </a:extLst>
          </p:cNvPr>
          <p:cNvSpPr/>
          <p:nvPr/>
        </p:nvSpPr>
        <p:spPr>
          <a:xfrm>
            <a:off x="6675120" y="4135374"/>
            <a:ext cx="365760" cy="292608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</a:rPr>
              <a:t>▼</a:t>
            </a:r>
            <a:endParaRPr lang="en-US" sz="16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E41A09B3-FCCC-FDBE-2D4C-0BAED99738B0}"/>
              </a:ext>
            </a:extLst>
          </p:cNvPr>
          <p:cNvSpPr/>
          <p:nvPr/>
        </p:nvSpPr>
        <p:spPr>
          <a:xfrm>
            <a:off x="5074920" y="4345686"/>
            <a:ext cx="3657600" cy="658368"/>
          </a:xfrm>
          <a:prstGeom prst="rect">
            <a:avLst/>
          </a:prstGeom>
          <a:solidFill>
            <a:srgbClr val="22C55E">
              <a:alpha val="80000"/>
            </a:srgbClr>
          </a:solidFill>
          <a:ln w="1016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90ED2B6-03FA-ED26-524C-4111C09623EC}"/>
              </a:ext>
            </a:extLst>
          </p:cNvPr>
          <p:cNvSpPr/>
          <p:nvPr/>
        </p:nvSpPr>
        <p:spPr>
          <a:xfrm>
            <a:off x="5212080" y="4391406"/>
            <a:ext cx="3383280" cy="329184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Pod Port 80</a:t>
            </a:r>
            <a:endParaRPr lang="en-US" sz="13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F0AB28B-CB04-4074-1BD1-DD87C0930840}"/>
              </a:ext>
            </a:extLst>
          </p:cNvPr>
          <p:cNvSpPr/>
          <p:nvPr/>
        </p:nvSpPr>
        <p:spPr>
          <a:xfrm>
            <a:off x="5212080" y="4693158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elearning-container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2150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1EF0DAD-4E30-6289-C922-F38457140373}"/>
              </a:ext>
            </a:extLst>
          </p:cNvPr>
          <p:cNvSpPr/>
          <p:nvPr/>
        </p:nvSpPr>
        <p:spPr>
          <a:xfrm>
            <a:off x="0" y="48006"/>
            <a:ext cx="9144000" cy="960120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4D0A76-143B-8442-8813-DBAB8203D6FC}"/>
              </a:ext>
            </a:extLst>
          </p:cNvPr>
          <p:cNvSpPr/>
          <p:nvPr/>
        </p:nvSpPr>
        <p:spPr>
          <a:xfrm>
            <a:off x="365760" y="48006"/>
            <a:ext cx="7772400" cy="9601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FACC1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HORIZONTAL POD AUTOSCALER (HPA)</a:t>
            </a:r>
            <a:endParaRPr lang="en-US" sz="2200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13345B3D-D6EC-9EE3-C301-CC9A5A1AB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49174"/>
            <a:ext cx="548640" cy="54864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9FC1EA5A-8762-F180-B923-6E25DB9EB6D3}"/>
              </a:ext>
            </a:extLst>
          </p:cNvPr>
          <p:cNvSpPr/>
          <p:nvPr/>
        </p:nvSpPr>
        <p:spPr>
          <a:xfrm>
            <a:off x="274320" y="1145286"/>
            <a:ext cx="4206240" cy="3657600"/>
          </a:xfrm>
          <a:prstGeom prst="rect">
            <a:avLst/>
          </a:prstGeom>
          <a:solidFill>
            <a:srgbClr val="1E2D3D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1FB4887-E521-5435-35E8-A730EB5023D3}"/>
              </a:ext>
            </a:extLst>
          </p:cNvPr>
          <p:cNvSpPr/>
          <p:nvPr/>
        </p:nvSpPr>
        <p:spPr>
          <a:xfrm>
            <a:off x="274320" y="1145286"/>
            <a:ext cx="4206240" cy="384048"/>
          </a:xfrm>
          <a:prstGeom prst="rect">
            <a:avLst/>
          </a:prstGeom>
          <a:solidFill>
            <a:srgbClr val="F59E0B">
              <a:alpha val="80000"/>
            </a:srgbClr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DDE65AB-85BD-8BF2-B168-03AF27989F8F}"/>
              </a:ext>
            </a:extLst>
          </p:cNvPr>
          <p:cNvSpPr/>
          <p:nvPr/>
        </p:nvSpPr>
        <p:spPr>
          <a:xfrm>
            <a:off x="411480" y="1145286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📄  hpa.yaml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8F23F7F-AE7B-C19C-C06F-E5E2C71C43E0}"/>
              </a:ext>
            </a:extLst>
          </p:cNvPr>
          <p:cNvSpPr/>
          <p:nvPr/>
        </p:nvSpPr>
        <p:spPr>
          <a:xfrm>
            <a:off x="411480" y="1620774"/>
            <a:ext cx="3931920" cy="30632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apiVersion: autoscaling/v2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kind: HorizontalPodAutoscaler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metadata: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name: elearning-hpa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namespace: elearning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spec: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scaleTargetRef: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apiVersion: apps/v1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kind: Deployment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name: elearning-deployment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minReplicas: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maxReplicas: 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metrics: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 type: Resource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resource: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name: cpu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target: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type: Utilization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averageUtilization: 70</a:t>
            </a:r>
            <a:endParaRPr lang="en-US" sz="95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B66E2A49-D216-EAD9-999E-0E9548C6F353}"/>
              </a:ext>
            </a:extLst>
          </p:cNvPr>
          <p:cNvSpPr/>
          <p:nvPr/>
        </p:nvSpPr>
        <p:spPr>
          <a:xfrm>
            <a:off x="4800600" y="131533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HPA Works:</a:t>
            </a:r>
            <a:endParaRPr lang="en-US" sz="13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D0E8A28-59BF-01C1-C859-A66D080A0043}"/>
              </a:ext>
            </a:extLst>
          </p:cNvPr>
          <p:cNvSpPr/>
          <p:nvPr/>
        </p:nvSpPr>
        <p:spPr>
          <a:xfrm>
            <a:off x="4663442" y="1930264"/>
            <a:ext cx="4023360" cy="7315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 server monitors CPU every 15 seconds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Scales up when avg CPU &gt; 70% across pods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drops below 2 pods for reliability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58015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5E0B09-9465-981A-06BB-8637522C0D2A}"/>
              </a:ext>
            </a:extLst>
          </p:cNvPr>
          <p:cNvSpPr/>
          <p:nvPr/>
        </p:nvSpPr>
        <p:spPr>
          <a:xfrm>
            <a:off x="0" y="116586"/>
            <a:ext cx="9144000" cy="64008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E07280-6BDE-6ABB-F554-2BBB3DEB064E}"/>
              </a:ext>
            </a:extLst>
          </p:cNvPr>
          <p:cNvSpPr/>
          <p:nvPr/>
        </p:nvSpPr>
        <p:spPr>
          <a:xfrm>
            <a:off x="365760" y="208026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Application Deployment Steps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A1A524B-ED58-4E3B-1485-B877D16FC782}"/>
              </a:ext>
            </a:extLst>
          </p:cNvPr>
          <p:cNvSpPr/>
          <p:nvPr/>
        </p:nvSpPr>
        <p:spPr>
          <a:xfrm>
            <a:off x="182880" y="957834"/>
            <a:ext cx="36576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87ADE0E-D7E6-1919-8035-989EDEB2F214}"/>
              </a:ext>
            </a:extLst>
          </p:cNvPr>
          <p:cNvSpPr/>
          <p:nvPr/>
        </p:nvSpPr>
        <p:spPr>
          <a:xfrm>
            <a:off x="182880" y="95783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751417-37E1-B911-2303-C77ECC67FDBE}"/>
              </a:ext>
            </a:extLst>
          </p:cNvPr>
          <p:cNvSpPr/>
          <p:nvPr/>
        </p:nvSpPr>
        <p:spPr>
          <a:xfrm>
            <a:off x="685800" y="86639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</a:rPr>
              <a:t>Apply Namespace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7461BAF-1B55-B033-0E1D-D6BAA0095D5F}"/>
              </a:ext>
            </a:extLst>
          </p:cNvPr>
          <p:cNvSpPr/>
          <p:nvPr/>
        </p:nvSpPr>
        <p:spPr>
          <a:xfrm>
            <a:off x="685800" y="1186434"/>
            <a:ext cx="82753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63E772-C45A-697B-2A44-F3A8940B4A44}"/>
              </a:ext>
            </a:extLst>
          </p:cNvPr>
          <p:cNvSpPr/>
          <p:nvPr/>
        </p:nvSpPr>
        <p:spPr>
          <a:xfrm>
            <a:off x="777240" y="1186434"/>
            <a:ext cx="5029200" cy="30175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kubectl apply -f namespace.yaml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117F33D-E87F-92EB-8CE8-7ACDBDA3DF41}"/>
              </a:ext>
            </a:extLst>
          </p:cNvPr>
          <p:cNvSpPr/>
          <p:nvPr/>
        </p:nvSpPr>
        <p:spPr>
          <a:xfrm>
            <a:off x="5852160" y="1186434"/>
            <a:ext cx="3108960" cy="30175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namespace/elearning created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8FC055B-B42F-ECE7-D161-A449A0EA3068}"/>
              </a:ext>
            </a:extLst>
          </p:cNvPr>
          <p:cNvSpPr/>
          <p:nvPr/>
        </p:nvSpPr>
        <p:spPr>
          <a:xfrm>
            <a:off x="365760" y="1323594"/>
            <a:ext cx="0" cy="246888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588DF2C-DB9A-0C5B-71B5-EDCEDEFD30E9}"/>
              </a:ext>
            </a:extLst>
          </p:cNvPr>
          <p:cNvSpPr/>
          <p:nvPr/>
        </p:nvSpPr>
        <p:spPr>
          <a:xfrm>
            <a:off x="182880" y="1661922"/>
            <a:ext cx="36576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D9DD6B8-3CF6-F480-A6FA-D7EEE048CDCA}"/>
              </a:ext>
            </a:extLst>
          </p:cNvPr>
          <p:cNvSpPr/>
          <p:nvPr/>
        </p:nvSpPr>
        <p:spPr>
          <a:xfrm>
            <a:off x="182880" y="166192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A8AC173-39BB-B5E7-CE32-D5D7E805DA0E}"/>
              </a:ext>
            </a:extLst>
          </p:cNvPr>
          <p:cNvSpPr/>
          <p:nvPr/>
        </p:nvSpPr>
        <p:spPr>
          <a:xfrm>
            <a:off x="685800" y="157048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</a:rPr>
              <a:t>Apply ConfigMap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A7590A0-352A-D142-74E9-B8E13671EB7C}"/>
              </a:ext>
            </a:extLst>
          </p:cNvPr>
          <p:cNvSpPr/>
          <p:nvPr/>
        </p:nvSpPr>
        <p:spPr>
          <a:xfrm>
            <a:off x="685800" y="1890522"/>
            <a:ext cx="82753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5023DED-F7A9-49B8-651C-48AEDB8A6CA0}"/>
              </a:ext>
            </a:extLst>
          </p:cNvPr>
          <p:cNvSpPr/>
          <p:nvPr/>
        </p:nvSpPr>
        <p:spPr>
          <a:xfrm>
            <a:off x="777240" y="1890522"/>
            <a:ext cx="5029200" cy="30175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kubectl apply -f configmap.yaml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B9F3BA7-97CF-908A-06BD-D1ED82A8774D}"/>
              </a:ext>
            </a:extLst>
          </p:cNvPr>
          <p:cNvSpPr/>
          <p:nvPr/>
        </p:nvSpPr>
        <p:spPr>
          <a:xfrm>
            <a:off x="5852160" y="1890522"/>
            <a:ext cx="3108960" cy="30175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configmap/elearning-config created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0618087-C61C-9E17-9110-177A824A0F12}"/>
              </a:ext>
            </a:extLst>
          </p:cNvPr>
          <p:cNvSpPr/>
          <p:nvPr/>
        </p:nvSpPr>
        <p:spPr>
          <a:xfrm>
            <a:off x="365760" y="2027682"/>
            <a:ext cx="0" cy="246888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13443F4-46D3-5A5A-B527-17817BCE86DB}"/>
              </a:ext>
            </a:extLst>
          </p:cNvPr>
          <p:cNvSpPr/>
          <p:nvPr/>
        </p:nvSpPr>
        <p:spPr>
          <a:xfrm>
            <a:off x="182880" y="2366010"/>
            <a:ext cx="36576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58A956B-A38E-CF4C-C5DF-3C64AA66F5C6}"/>
              </a:ext>
            </a:extLst>
          </p:cNvPr>
          <p:cNvSpPr/>
          <p:nvPr/>
        </p:nvSpPr>
        <p:spPr>
          <a:xfrm>
            <a:off x="182880" y="236601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7DE5041-1EE3-323B-3160-D37DB8F99720}"/>
              </a:ext>
            </a:extLst>
          </p:cNvPr>
          <p:cNvSpPr/>
          <p:nvPr/>
        </p:nvSpPr>
        <p:spPr>
          <a:xfrm>
            <a:off x="685800" y="227457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</a:rPr>
              <a:t>Deploy Application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9A79FAD-3919-78DD-E3DA-3B27F2022D64}"/>
              </a:ext>
            </a:extLst>
          </p:cNvPr>
          <p:cNvSpPr/>
          <p:nvPr/>
        </p:nvSpPr>
        <p:spPr>
          <a:xfrm>
            <a:off x="685800" y="2594610"/>
            <a:ext cx="82753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9279DA0-208A-414C-B858-785A77D1B5B4}"/>
              </a:ext>
            </a:extLst>
          </p:cNvPr>
          <p:cNvSpPr/>
          <p:nvPr/>
        </p:nvSpPr>
        <p:spPr>
          <a:xfrm>
            <a:off x="777240" y="2594610"/>
            <a:ext cx="5029200" cy="30175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kubectl apply -f deployment.yaml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22D059D-CD51-09ED-DCF2-CB12CAFDE0AB}"/>
              </a:ext>
            </a:extLst>
          </p:cNvPr>
          <p:cNvSpPr/>
          <p:nvPr/>
        </p:nvSpPr>
        <p:spPr>
          <a:xfrm>
            <a:off x="5852160" y="2594610"/>
            <a:ext cx="3108960" cy="30175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deployment.apps/elearning-deployment created</a:t>
            </a:r>
            <a:endParaRPr lang="en-US" sz="9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FF6FA1E-7413-5A90-EBE2-CEFCCD41F715}"/>
              </a:ext>
            </a:extLst>
          </p:cNvPr>
          <p:cNvSpPr/>
          <p:nvPr/>
        </p:nvSpPr>
        <p:spPr>
          <a:xfrm>
            <a:off x="365760" y="2731770"/>
            <a:ext cx="0" cy="246888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FACF5E4-75EC-23AB-C7EF-143FB9BF6886}"/>
              </a:ext>
            </a:extLst>
          </p:cNvPr>
          <p:cNvSpPr/>
          <p:nvPr/>
        </p:nvSpPr>
        <p:spPr>
          <a:xfrm>
            <a:off x="182880" y="3070098"/>
            <a:ext cx="36576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2B6D9CA-AFFB-4B22-B50A-BD1E98A46EC2}"/>
              </a:ext>
            </a:extLst>
          </p:cNvPr>
          <p:cNvSpPr/>
          <p:nvPr/>
        </p:nvSpPr>
        <p:spPr>
          <a:xfrm>
            <a:off x="182880" y="307009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8262519-5BA3-1AED-834E-5885CBB89245}"/>
              </a:ext>
            </a:extLst>
          </p:cNvPr>
          <p:cNvSpPr/>
          <p:nvPr/>
        </p:nvSpPr>
        <p:spPr>
          <a:xfrm>
            <a:off x="685800" y="2978658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</a:rPr>
              <a:t>Expose Service</a:t>
            </a:r>
            <a:endParaRPr lang="en-US" sz="12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1C14E9D-5854-F8B5-E96F-F17416861C14}"/>
              </a:ext>
            </a:extLst>
          </p:cNvPr>
          <p:cNvSpPr/>
          <p:nvPr/>
        </p:nvSpPr>
        <p:spPr>
          <a:xfrm>
            <a:off x="685800" y="3298698"/>
            <a:ext cx="82753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EF016C4-F2DA-64A4-7F50-C4FE150B8F1B}"/>
              </a:ext>
            </a:extLst>
          </p:cNvPr>
          <p:cNvSpPr/>
          <p:nvPr/>
        </p:nvSpPr>
        <p:spPr>
          <a:xfrm>
            <a:off x="777240" y="3298698"/>
            <a:ext cx="5029200" cy="30175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kubectl apply -f service.yaml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A2E5CA2-B51C-976C-B48A-8224E97706F1}"/>
              </a:ext>
            </a:extLst>
          </p:cNvPr>
          <p:cNvSpPr/>
          <p:nvPr/>
        </p:nvSpPr>
        <p:spPr>
          <a:xfrm>
            <a:off x="5852160" y="3298698"/>
            <a:ext cx="3108960" cy="30175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service/elearning-service created</a:t>
            </a:r>
            <a:endParaRPr lang="en-US" sz="9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D8152B9-6F2F-89A3-2C4E-338CA441316B}"/>
              </a:ext>
            </a:extLst>
          </p:cNvPr>
          <p:cNvSpPr/>
          <p:nvPr/>
        </p:nvSpPr>
        <p:spPr>
          <a:xfrm>
            <a:off x="365760" y="3435858"/>
            <a:ext cx="0" cy="246888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1A17EFA-CB2B-3EA3-4682-DD0CAB3E7E1A}"/>
              </a:ext>
            </a:extLst>
          </p:cNvPr>
          <p:cNvSpPr/>
          <p:nvPr/>
        </p:nvSpPr>
        <p:spPr>
          <a:xfrm>
            <a:off x="182880" y="3774186"/>
            <a:ext cx="36576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A3AE95C-FF07-23A7-04C1-20737F80CA32}"/>
              </a:ext>
            </a:extLst>
          </p:cNvPr>
          <p:cNvSpPr/>
          <p:nvPr/>
        </p:nvSpPr>
        <p:spPr>
          <a:xfrm>
            <a:off x="182880" y="377418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C4D7EEE-CF71-63E2-A0D2-50C467FC0CD0}"/>
              </a:ext>
            </a:extLst>
          </p:cNvPr>
          <p:cNvSpPr/>
          <p:nvPr/>
        </p:nvSpPr>
        <p:spPr>
          <a:xfrm>
            <a:off x="685800" y="368274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</a:rPr>
              <a:t>Enable Auto-Scale</a:t>
            </a:r>
            <a:endParaRPr lang="en-US" sz="12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146D3E3-84C7-E7AD-DD17-39E6EC47034C}"/>
              </a:ext>
            </a:extLst>
          </p:cNvPr>
          <p:cNvSpPr/>
          <p:nvPr/>
        </p:nvSpPr>
        <p:spPr>
          <a:xfrm>
            <a:off x="685800" y="4002786"/>
            <a:ext cx="82753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7DDB0A1-26DE-F74B-DF74-2DBB4D4E64A1}"/>
              </a:ext>
            </a:extLst>
          </p:cNvPr>
          <p:cNvSpPr/>
          <p:nvPr/>
        </p:nvSpPr>
        <p:spPr>
          <a:xfrm>
            <a:off x="777240" y="4002786"/>
            <a:ext cx="5029200" cy="30175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kubectl apply -f hpa.yaml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7D399BE-40BC-A235-EA75-2E0F35C9832F}"/>
              </a:ext>
            </a:extLst>
          </p:cNvPr>
          <p:cNvSpPr/>
          <p:nvPr/>
        </p:nvSpPr>
        <p:spPr>
          <a:xfrm>
            <a:off x="5852160" y="4002786"/>
            <a:ext cx="3108960" cy="30175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horizontalpodautoscaler.autoscaling/elearning-hpa created</a:t>
            </a:r>
            <a:endParaRPr lang="en-US" sz="9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4A831AB2-CE0E-27D6-DBD6-F426D32588DC}"/>
              </a:ext>
            </a:extLst>
          </p:cNvPr>
          <p:cNvSpPr/>
          <p:nvPr/>
        </p:nvSpPr>
        <p:spPr>
          <a:xfrm>
            <a:off x="365760" y="4139946"/>
            <a:ext cx="0" cy="246888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A1F3BD63-6AAD-BF87-6025-7C5073C64BE7}"/>
              </a:ext>
            </a:extLst>
          </p:cNvPr>
          <p:cNvSpPr/>
          <p:nvPr/>
        </p:nvSpPr>
        <p:spPr>
          <a:xfrm>
            <a:off x="182880" y="4478274"/>
            <a:ext cx="365760" cy="36576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5FB89F5-E9F1-1C3D-9CD6-47781B38E262}"/>
              </a:ext>
            </a:extLst>
          </p:cNvPr>
          <p:cNvSpPr/>
          <p:nvPr/>
        </p:nvSpPr>
        <p:spPr>
          <a:xfrm>
            <a:off x="182880" y="447827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467B5C0-FC80-4DE2-F0EA-141D1E6B9054}"/>
              </a:ext>
            </a:extLst>
          </p:cNvPr>
          <p:cNvSpPr/>
          <p:nvPr/>
        </p:nvSpPr>
        <p:spPr>
          <a:xfrm>
            <a:off x="685800" y="438683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</a:rPr>
              <a:t>Verify Pods</a:t>
            </a:r>
            <a:endParaRPr lang="en-US" sz="12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765806A3-9EF6-CAAD-4535-1E623D1F0313}"/>
              </a:ext>
            </a:extLst>
          </p:cNvPr>
          <p:cNvSpPr/>
          <p:nvPr/>
        </p:nvSpPr>
        <p:spPr>
          <a:xfrm>
            <a:off x="685800" y="4706874"/>
            <a:ext cx="827532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B950B6C-38F0-4BC6-2957-87CC0EF8ED43}"/>
              </a:ext>
            </a:extLst>
          </p:cNvPr>
          <p:cNvSpPr/>
          <p:nvPr/>
        </p:nvSpPr>
        <p:spPr>
          <a:xfrm>
            <a:off x="777240" y="4706874"/>
            <a:ext cx="5029200" cy="30175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kubectl get pods -n elearning</a:t>
            </a:r>
            <a:endParaRPr lang="en-US" sz="9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16B0D4F-6BA8-C971-EDB9-8998C8C2C5EA}"/>
              </a:ext>
            </a:extLst>
          </p:cNvPr>
          <p:cNvSpPr/>
          <p:nvPr/>
        </p:nvSpPr>
        <p:spPr>
          <a:xfrm>
            <a:off x="5852160" y="4706874"/>
            <a:ext cx="3108960" cy="30175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7EE7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 All pods: STATUS=Running ✓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1041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77724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0" y="4956048"/>
            <a:ext cx="320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Overview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435608"/>
            <a:ext cx="3657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81328"/>
            <a:ext cx="374904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LearnEd runs on a two-node Kubernetes cluster provisioned using kubeadm on AWS EC2 instances. The architecture follows a layered model: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Presentation Layer: HTML/CSS/JS frontend served by Nginx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Orchestration Layer: Kubernetes manages pods, scaling, and networking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Monitoring Layer: Prometheus scrapes metrics; Grafana visualises them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requests arrive at the EC2 public IP on </a:t>
            </a:r>
            <a:r>
              <a:rPr lang="en-US" sz="1100" dirty="0" err="1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NodePort</a:t>
            </a: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30007, are routed by the Kubernetes Service to a healthy pod, which returns content. Prometheus simultaneously scrapes metrics from every component every 15 seconds.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115568"/>
            <a:ext cx="4526280" cy="3639312"/>
          </a:xfrm>
          <a:prstGeom prst="rect">
            <a:avLst/>
          </a:prstGeom>
          <a:solidFill>
            <a:srgbClr val="F2F7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115568"/>
            <a:ext cx="452628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115568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Breakdown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499616"/>
            <a:ext cx="4526280" cy="3017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1499616"/>
            <a:ext cx="2240280" cy="30175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56832" y="1499616"/>
            <a:ext cx="2240280" cy="30175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1801368"/>
            <a:ext cx="4526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0832" y="1801368"/>
            <a:ext cx="226771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 Node (EC2)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56832" y="1801368"/>
            <a:ext cx="217627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control plane: API Server, Scheduler, etcd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43400" y="2139696"/>
            <a:ext cx="4526280" cy="33832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2139696"/>
            <a:ext cx="226771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Worker Node (EC2)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56832" y="2139696"/>
            <a:ext cx="217627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application pods (Nginx containers)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43400" y="2478024"/>
            <a:ext cx="4526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0832" y="2478024"/>
            <a:ext cx="226771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/ Docker Hub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56832" y="2478024"/>
            <a:ext cx="217627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&amp; distributes the nginx:alpine image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43400" y="2816352"/>
            <a:ext cx="4526280" cy="33832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70832" y="2816352"/>
            <a:ext cx="226771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56832" y="2816352"/>
            <a:ext cx="217627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Maintains 2 replicas; rolling update strategy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43400" y="3154680"/>
            <a:ext cx="4526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3154680"/>
            <a:ext cx="226771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(NodePort)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56832" y="3154680"/>
            <a:ext cx="217627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Exposes app on port 30007; load-balances pods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43400" y="3493008"/>
            <a:ext cx="4526280" cy="33832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3493008"/>
            <a:ext cx="226771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56832" y="3493008"/>
            <a:ext cx="217627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Scales pods 2 → 8 when CPU exceeds 70%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43400" y="3831336"/>
            <a:ext cx="4526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70832" y="3831336"/>
            <a:ext cx="226771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 (Helm)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56832" y="3831336"/>
            <a:ext cx="217627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Collects metrics (accessible on 30310)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43400" y="4169664"/>
            <a:ext cx="4526280" cy="33832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70832" y="4169664"/>
            <a:ext cx="226771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 (Helm)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56832" y="4169664"/>
            <a:ext cx="2176272" cy="3383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r>
              <a:rPr lang="en-IN" sz="1000" dirty="0"/>
              <a:t>Visualizes metrics (accessible on </a:t>
            </a:r>
            <a:r>
              <a:rPr lang="en-IN" sz="1000" b="1" dirty="0"/>
              <a:t>31949</a:t>
            </a:r>
            <a:r>
              <a:rPr lang="en-IN" sz="1000" dirty="0"/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77724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0" y="4956048"/>
            <a:ext cx="320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841248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115568"/>
            <a:ext cx="168249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57984" y="1115568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 / Technology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78224" y="1115568"/>
            <a:ext cx="15910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/ Detail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24144" y="1115568"/>
            <a:ext cx="32369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481328"/>
            <a:ext cx="8412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48132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57984" y="148132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+ CSS + JavaScript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78224" y="148132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724144" y="148132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UI served to the student's browser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773936"/>
            <a:ext cx="8412480" cy="29260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1773936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Control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57984" y="17739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78224" y="1773936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24144" y="1773936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 for application source code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066544"/>
            <a:ext cx="8412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2066544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Containerization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57984" y="206654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78224" y="2066544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nginx:alpine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24144" y="206654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Packages app into a portable 10MB container image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359152"/>
            <a:ext cx="8412480" cy="29260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359152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Registry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57984" y="235915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Hub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078224" y="235915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registry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24144" y="235915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and distributes the Docker image globally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2651760"/>
            <a:ext cx="8412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265176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57984" y="265176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Kubernetes (kubeadm)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078224" y="265176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v1.29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24144" y="265176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pods, scaling, networking, and self-healing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2944368"/>
            <a:ext cx="8412480" cy="29260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294436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57984" y="294436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Flannel CNI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078224" y="294436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Latest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724144" y="29443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Pod-to-pod overlay network across cluster nodes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3236976"/>
            <a:ext cx="8412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3236976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157984" y="323697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EC2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078224" y="3236976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Ubuntu 22.04 LTS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724144" y="3236976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VMs hosting Master and Worker nodes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3529584"/>
            <a:ext cx="8412480" cy="29260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" y="3529584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Auto-Scaling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157984" y="352958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Horizontal Pod Autoscaler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078224" y="3529584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K8s built-in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724144" y="352958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Scales pods 2 → 8 based on CPU utilisation &gt; 70%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3822192"/>
            <a:ext cx="8412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" y="3822192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157984" y="382219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078224" y="38221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kube-prometheus-stack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724144" y="382219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Scrapes and stores time-series metrics every 15s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65760" y="4114800"/>
            <a:ext cx="8412480" cy="29260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" y="411480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157984" y="411480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078224" y="411480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Bundled with above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724144" y="411480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Visualises metrics via imported community dashboards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4407408"/>
            <a:ext cx="8412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0624" y="440740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Alerting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157984" y="440740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AlertManager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078224" y="440740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Bundled with above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724144" y="440740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Routes notifications when thresholds are breached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5760" y="4700016"/>
            <a:ext cx="8412480" cy="292608"/>
          </a:xfrm>
          <a:prstGeom prst="rect">
            <a:avLst/>
          </a:prstGeom>
          <a:solidFill>
            <a:srgbClr val="EEF4FB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0624" y="4700016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Package Mgr.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157984" y="470001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Helm v3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078224" y="4700016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Latest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724144" y="4700016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Installs entire monitoring stack in one command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20624" y="5001768"/>
            <a:ext cx="8357616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77724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78240" y="4956048"/>
            <a:ext cx="3200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35608"/>
            <a:ext cx="475488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00200"/>
            <a:ext cx="109728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08760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LearnEd demonstrates that production-grade cloud-native engineering is achievable at university level using entirely open-source tools.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09728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03120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Kubernetes self-healing + HPA auto-scaling + RollingUpdate together eliminate manual operations and unplanned downtime.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109728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97480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 and Grafana provide complete real-time visibility — from container CPU to cluster health — without custom instrumentation.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109728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91840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entire stack is reproducible from scratch on fresh AWS EC2 instances by following the documented step-by-step procedure.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109728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86200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 maps directly to INT-334 Course Outcomes CO1–CO6: containerization, cluster management, networking, scaling, and monitoring.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49240" y="1115568"/>
            <a:ext cx="3520440" cy="3703320"/>
          </a:xfrm>
          <a:prstGeom prst="rect">
            <a:avLst/>
          </a:prstGeom>
          <a:solidFill>
            <a:srgbClr val="F2F7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1115568"/>
            <a:ext cx="352044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11556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68112" y="1664208"/>
            <a:ext cx="228600" cy="2286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572768"/>
            <a:ext cx="2971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CI/CD Pipeline: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60720" y="1819656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Actions auto build + deploy on every commit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68112" y="2167128"/>
            <a:ext cx="228600" cy="2286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075688"/>
            <a:ext cx="2971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EKS Migration: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60720" y="2322576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Managed control plane, auto etcd backups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68112" y="2670048"/>
            <a:ext cx="228600" cy="2286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2578608"/>
            <a:ext cx="2971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 Loki: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60720" y="2825496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Centralised log aggregation alongside metrics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68112" y="3172968"/>
            <a:ext cx="228600" cy="2286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081528"/>
            <a:ext cx="2971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OpenTelemetry: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60720" y="3328416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Distributed tracing and custom business metrics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68112" y="3675888"/>
            <a:ext cx="228600" cy="2286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3584448"/>
            <a:ext cx="2971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Multi-Region Deploy: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60720" y="3831336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Mumbai + Singapore AZs for national coverage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68112" y="4178808"/>
            <a:ext cx="228600" cy="2286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4087368"/>
            <a:ext cx="29718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 / TLS: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760720" y="4334256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Let's Encrypt certificate + Ingress controller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20565"/>
            <a:ext cx="9144000" cy="116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b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b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b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 flipH="1">
            <a:off x="2834640" y="3127375"/>
            <a:ext cx="101155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3127248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34747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347472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82219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3822192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16966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4169664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4245" y="4517390"/>
            <a:ext cx="18903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4517136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1804</Words>
  <Application>Microsoft Office PowerPoint</Application>
  <PresentationFormat>On-screen Show (16:9)</PresentationFormat>
  <Paragraphs>427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LearnEd – Cloud-Native Learning Platform</dc:title>
  <dc:subject>PptxGenJS Presentation</dc:subject>
  <dc:creator>Rachna Devi</dc:creator>
  <cp:lastModifiedBy>Mohan Rolan</cp:lastModifiedBy>
  <cp:revision>8</cp:revision>
  <dcterms:created xsi:type="dcterms:W3CDTF">2026-04-20T16:15:00Z</dcterms:created>
  <dcterms:modified xsi:type="dcterms:W3CDTF">2026-04-23T09:07:00Z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5E91AFC5C0824362828CA7D5073587BA_12</vt:lpwstr>
  </property>
  <property fmtid="{D5CDD505-2E9C-101B-9397-08002B2CF9AE}" pid="3" name="KSOProductBuildVer">
    <vt:lpwstr>1033-12.1.0.25242</vt:lpwstr>
  </property>
</Properties>
</file>